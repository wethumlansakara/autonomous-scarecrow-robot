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8" r:id="rId12"/>
  </p:sldIdLst>
  <p:sldSz cx="14630400" cy="8229600"/>
  <p:notesSz cx="8229600" cy="14630400"/>
  <p:embeddedFontLst>
    <p:embeddedFont>
      <p:font typeface="Lato" panose="020F0502020204030203" pitchFamily="34" charset="0"/>
      <p:regular r:id="rId14"/>
      <p:bold r:id="rId15"/>
    </p:embeddedFont>
    <p:embeddedFont>
      <p:font typeface="Segoe UI" panose="020B0502040204020203" pitchFamily="34" charset="0"/>
      <p:regular r:id="rId16"/>
      <p:bold r:id="rId17"/>
      <p:italic r:id="rId18"/>
      <p:boldItalic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C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65" d="100"/>
          <a:sy n="65" d="100"/>
        </p:scale>
        <p:origin x="830" y="53"/>
      </p:cViewPr>
      <p:guideLst/>
    </p:cSldViewPr>
  </p:slideViewPr>
  <p:notesTextViewPr>
    <p:cViewPr>
      <p:scale>
        <a:sx n="115" d="100"/>
        <a:sy n="115" d="100"/>
      </p:scale>
      <p:origin x="-5" y="-1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3222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here to present our IoT and Robotics project, </a:t>
            </a:r>
            <a:r>
              <a:rPr lang="en-US" b="1" dirty="0"/>
              <a:t>Autonomous Scarecrow Robot</a:t>
            </a:r>
            <a:r>
              <a:rPr lang="en-US" dirty="0"/>
              <a:t>.</a:t>
            </a:r>
            <a:br>
              <a:rPr lang="en-US" dirty="0"/>
            </a:br>
            <a:r>
              <a:rPr lang="en-US" dirty="0"/>
              <a:t>I am </a:t>
            </a:r>
            <a:r>
              <a:rPr lang="en-US" b="1" dirty="0" err="1"/>
              <a:t>Gavith</a:t>
            </a:r>
            <a:r>
              <a:rPr lang="en-US" b="1" dirty="0"/>
              <a:t> Perera </a:t>
            </a:r>
            <a:r>
              <a:rPr lang="en-US" dirty="0"/>
              <a:t>and my partner is </a:t>
            </a:r>
            <a:r>
              <a:rPr lang="en-US" b="1" dirty="0" err="1"/>
              <a:t>Wethum</a:t>
            </a:r>
            <a:r>
              <a:rPr lang="en-US" b="1" dirty="0"/>
              <a:t> </a:t>
            </a:r>
            <a:r>
              <a:rPr lang="en-US" b="1" dirty="0" err="1"/>
              <a:t>Lansakara</a:t>
            </a:r>
            <a:r>
              <a:rPr lang="en-US" b="1" dirty="0"/>
              <a:t>.</a:t>
            </a:r>
            <a:br>
              <a:rPr lang="en-US" dirty="0"/>
            </a:br>
            <a:r>
              <a:rPr lang="en-US" dirty="0"/>
              <a:t>This project was developed for the HND in Computer Science with Artificial Intelligence at NIBM.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gardens and small farms, crops are often damaged by animals, birds, and even unauthorized human activity. Traditional scarecrows are static and become ineffective over time because animals get used to them.</a:t>
            </a:r>
          </a:p>
          <a:p>
            <a:r>
              <a:rPr lang="en-US" dirty="0"/>
              <a:t>So we identified the need for a smarter solution. Our idea was to create a </a:t>
            </a:r>
            <a:r>
              <a:rPr lang="en-US" b="1" dirty="0"/>
              <a:t>mobile autonomous scarecrow robot</a:t>
            </a:r>
            <a:r>
              <a:rPr lang="en-US" dirty="0"/>
              <a:t> that can patrol the area, monitor the surroundings, and respond automatically when movement is detected.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overall idea of our system.</a:t>
            </a:r>
          </a:p>
          <a:p>
            <a:r>
              <a:rPr lang="en-US" dirty="0"/>
              <a:t>Our project is an </a:t>
            </a:r>
            <a:r>
              <a:rPr lang="en-US" b="1" dirty="0"/>
              <a:t>autonomous mobile scarecrow robot</a:t>
            </a:r>
            <a:r>
              <a:rPr lang="en-US" dirty="0"/>
              <a:t> designed to patrol garden paths and monitor the surroundings.</a:t>
            </a:r>
          </a:p>
          <a:p>
            <a:r>
              <a:rPr lang="en-US" dirty="0"/>
              <a:t>The robot follows a predefined path, stops at checkpoints, scans the environment, and detects motion using sensors.</a:t>
            </a:r>
          </a:p>
          <a:p>
            <a:r>
              <a:rPr lang="en-US" dirty="0"/>
              <a:t>When a threat is detected, it activates deterrents such as a buzzer and mechanical actuators.</a:t>
            </a:r>
          </a:p>
          <a:p>
            <a:r>
              <a:rPr lang="en-US" dirty="0"/>
              <a:t>The system is designed to be </a:t>
            </a:r>
            <a:r>
              <a:rPr lang="en-US" b="1" dirty="0"/>
              <a:t>low-cost, reliable, and suitable for small farms and home gardens</a:t>
            </a:r>
            <a:r>
              <a:rPr lang="en-US" dirty="0"/>
              <a:t>.</a:t>
            </a:r>
          </a:p>
          <a:p>
            <a:r>
              <a:rPr lang="en-US" dirty="0"/>
              <a:t>It combines mobility and sensing for active protection, reduces the need for manual monitoring, and supports future upgrades through its modular design.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objectives of our project were fourfold.</a:t>
            </a:r>
          </a:p>
          <a:p>
            <a:r>
              <a:rPr lang="en-US" dirty="0"/>
              <a:t>First, </a:t>
            </a:r>
            <a:r>
              <a:rPr lang="en-US" b="1" dirty="0"/>
              <a:t>automated protection</a:t>
            </a:r>
            <a:r>
              <a:rPr lang="en-US" dirty="0"/>
              <a:t>, so the robot can patrol continuously without depending on human supervision.</a:t>
            </a:r>
          </a:p>
          <a:p>
            <a:r>
              <a:rPr lang="en-US" dirty="0"/>
              <a:t>Second, </a:t>
            </a:r>
            <a:r>
              <a:rPr lang="en-US" b="1" dirty="0"/>
              <a:t>accurate and reliable detection</a:t>
            </a:r>
            <a:r>
              <a:rPr lang="en-US" dirty="0"/>
              <a:t>, by combining PIR sensing, ultrasonic confirmation, and scanning.</a:t>
            </a:r>
          </a:p>
          <a:p>
            <a:r>
              <a:rPr lang="en-US" dirty="0"/>
              <a:t>Third, </a:t>
            </a:r>
            <a:r>
              <a:rPr lang="en-US" b="1" dirty="0"/>
              <a:t>extended area coverage</a:t>
            </a:r>
            <a:r>
              <a:rPr lang="en-US" dirty="0"/>
              <a:t>, because the robot moves along a predefined path and checks multiple points in the garden.</a:t>
            </a:r>
          </a:p>
          <a:p>
            <a:r>
              <a:rPr lang="en-US" dirty="0"/>
              <a:t>And finally, </a:t>
            </a:r>
            <a:r>
              <a:rPr lang="en-US" b="1" dirty="0"/>
              <a:t>minimized human intervention</a:t>
            </a:r>
            <a:r>
              <a:rPr lang="en-US" dirty="0"/>
              <a:t>, since the robot performs monitoring and response actions automatically.</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robot performs several important functions.</a:t>
            </a:r>
          </a:p>
          <a:p>
            <a:r>
              <a:rPr lang="en-US" dirty="0"/>
              <a:t>It follows a predefined line path to move through the garden.</a:t>
            </a:r>
            <a:br>
              <a:rPr lang="en-US" dirty="0"/>
            </a:br>
            <a:r>
              <a:rPr lang="en-US" dirty="0"/>
              <a:t>At checkpoints, it stops and scans the surroundings.</a:t>
            </a:r>
            <a:br>
              <a:rPr lang="en-US" dirty="0"/>
            </a:br>
            <a:r>
              <a:rPr lang="en-US" dirty="0"/>
              <a:t>It performs approximately </a:t>
            </a:r>
            <a:r>
              <a:rPr lang="en-US" b="1" dirty="0"/>
              <a:t>270-degree scanning</a:t>
            </a:r>
            <a:r>
              <a:rPr lang="en-US" dirty="0"/>
              <a:t> using a servo-mounted PIR sensor.</a:t>
            </a:r>
            <a:br>
              <a:rPr lang="en-US" dirty="0"/>
            </a:br>
            <a:r>
              <a:rPr lang="en-US" dirty="0"/>
              <a:t>When motion is detected, it validates the situation using sensors and then activates deterrents such as a buzzer and actuator movement.</a:t>
            </a:r>
            <a:br>
              <a:rPr lang="en-US" dirty="0"/>
            </a:br>
            <a:r>
              <a:rPr lang="en-US" dirty="0"/>
              <a:t>In addition, the system can support </a:t>
            </a:r>
            <a:r>
              <a:rPr lang="en-US" b="1" dirty="0"/>
              <a:t>optional IoT alerts</a:t>
            </a:r>
            <a:r>
              <a:rPr lang="en-US" dirty="0"/>
              <a:t> through the ESP32 Dev Board for remote notification.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our robot works step by step in real-time operation.</a:t>
            </a:r>
          </a:p>
          <a:p>
            <a:r>
              <a:rPr lang="en-US" dirty="0"/>
              <a:t>First, the system starts and the robot begins </a:t>
            </a:r>
            <a:r>
              <a:rPr lang="en-US" b="1" dirty="0"/>
              <a:t>following a predefined line path</a:t>
            </a:r>
            <a:r>
              <a:rPr lang="en-US" dirty="0"/>
              <a:t> using line-following sensors.</a:t>
            </a:r>
          </a:p>
          <a:p>
            <a:r>
              <a:rPr lang="en-US" dirty="0"/>
              <a:t>When it reaches a </a:t>
            </a:r>
            <a:r>
              <a:rPr lang="en-US" b="1" dirty="0"/>
              <a:t>checkpoint</a:t>
            </a:r>
            <a:r>
              <a:rPr lang="en-US" dirty="0"/>
              <a:t>, the robot automatically </a:t>
            </a:r>
            <a:r>
              <a:rPr lang="en-US" b="1" dirty="0"/>
              <a:t>stops</a:t>
            </a:r>
            <a:r>
              <a:rPr lang="en-US" dirty="0"/>
              <a:t> to monitor that area.</a:t>
            </a:r>
          </a:p>
          <a:p>
            <a:r>
              <a:rPr lang="en-US" dirty="0"/>
              <a:t>At this point, a </a:t>
            </a:r>
            <a:r>
              <a:rPr lang="en-US" b="1" dirty="0"/>
              <a:t>servo motor rotates the PIR sensor</a:t>
            </a:r>
            <a:r>
              <a:rPr lang="en-US" dirty="0"/>
              <a:t>, allowing the robot to scan approximately </a:t>
            </a:r>
            <a:r>
              <a:rPr lang="en-US" b="1" dirty="0"/>
              <a:t>270 degrees around it</a:t>
            </a:r>
            <a:r>
              <a:rPr lang="en-US" dirty="0"/>
              <a:t>.</a:t>
            </a:r>
          </a:p>
          <a:p>
            <a:r>
              <a:rPr lang="en-US" dirty="0"/>
              <a:t>During scanning, if </a:t>
            </a:r>
            <a:r>
              <a:rPr lang="en-US" b="1" dirty="0"/>
              <a:t>motion is detected</a:t>
            </a:r>
            <a:r>
              <a:rPr lang="en-US" dirty="0"/>
              <a:t>, the system confirms the presence using sensors and then </a:t>
            </a:r>
            <a:r>
              <a:rPr lang="en-US" b="1" dirty="0"/>
              <a:t>activates the buzzer and actuator</a:t>
            </a:r>
            <a:r>
              <a:rPr lang="en-US" dirty="0"/>
              <a:t> to scare away the intruder.</a:t>
            </a:r>
          </a:p>
          <a:p>
            <a:r>
              <a:rPr lang="en-US" dirty="0"/>
              <a:t>If no motion is detected, or after the threat is gone, the robot </a:t>
            </a:r>
            <a:r>
              <a:rPr lang="en-US" b="1" dirty="0"/>
              <a:t>resumes patrolling</a:t>
            </a:r>
            <a:r>
              <a:rPr lang="en-US" dirty="0"/>
              <a:t> and continues along the path to the next checkpoint.</a:t>
            </a:r>
          </a:p>
          <a:p>
            <a:r>
              <a:rPr lang="en-US" dirty="0"/>
              <a:t>This cycle repeats continuously, allowing the robot to monitor multiple areas in an automated and efficient way.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components used in our project.</a:t>
            </a:r>
          </a:p>
          <a:p>
            <a:r>
              <a:rPr lang="en-US" dirty="0"/>
              <a:t>We used an </a:t>
            </a:r>
            <a:r>
              <a:rPr lang="en-US" b="1" dirty="0"/>
              <a:t>Arduino UNO</a:t>
            </a:r>
            <a:r>
              <a:rPr lang="en-US" dirty="0"/>
              <a:t> as the central controller.</a:t>
            </a:r>
            <a:br>
              <a:rPr lang="en-US" dirty="0"/>
            </a:br>
            <a:r>
              <a:rPr lang="en-US" dirty="0"/>
              <a:t>An </a:t>
            </a:r>
            <a:r>
              <a:rPr lang="en-US" b="1" dirty="0"/>
              <a:t>ESP32 Dev Board</a:t>
            </a:r>
            <a:r>
              <a:rPr lang="en-US" dirty="0"/>
              <a:t> is used for IoT alerts and remote monitoring functions.</a:t>
            </a:r>
            <a:br>
              <a:rPr lang="en-US" dirty="0"/>
            </a:br>
            <a:r>
              <a:rPr lang="en-US" dirty="0"/>
              <a:t>An </a:t>
            </a:r>
            <a:r>
              <a:rPr lang="en-US" b="1" dirty="0"/>
              <a:t>L298N motor driver</a:t>
            </a:r>
            <a:r>
              <a:rPr lang="en-US" dirty="0"/>
              <a:t> controls the DC motors for movement.</a:t>
            </a:r>
            <a:br>
              <a:rPr lang="en-US" dirty="0"/>
            </a:br>
            <a:r>
              <a:rPr lang="en-US" dirty="0"/>
              <a:t>The robot uses </a:t>
            </a:r>
            <a:r>
              <a:rPr lang="en-US" b="1" dirty="0"/>
              <a:t>DC motors and wheels</a:t>
            </a:r>
            <a:r>
              <a:rPr lang="en-US" dirty="0"/>
              <a:t> for mobility.</a:t>
            </a:r>
            <a:br>
              <a:rPr lang="en-US" dirty="0"/>
            </a:br>
            <a:r>
              <a:rPr lang="en-US" dirty="0"/>
              <a:t>A </a:t>
            </a:r>
            <a:r>
              <a:rPr lang="en-US" b="1" dirty="0"/>
              <a:t>line-following sensor array</a:t>
            </a:r>
            <a:r>
              <a:rPr lang="en-US" dirty="0"/>
              <a:t> is used for path tracking.</a:t>
            </a:r>
            <a:br>
              <a:rPr lang="en-US" dirty="0"/>
            </a:br>
            <a:r>
              <a:rPr lang="en-US" dirty="0"/>
              <a:t>A </a:t>
            </a:r>
            <a:r>
              <a:rPr lang="en-US" b="1" dirty="0"/>
              <a:t>PIR sensor</a:t>
            </a:r>
            <a:r>
              <a:rPr lang="en-US" dirty="0"/>
              <a:t> is used for motion detection.</a:t>
            </a:r>
            <a:br>
              <a:rPr lang="en-US" dirty="0"/>
            </a:br>
            <a:r>
              <a:rPr lang="en-US" dirty="0"/>
              <a:t>An </a:t>
            </a:r>
            <a:r>
              <a:rPr lang="en-US" b="1" dirty="0"/>
              <a:t>ultrasonic sensor</a:t>
            </a:r>
            <a:r>
              <a:rPr lang="en-US" dirty="0"/>
              <a:t> is used for distance validation and obstacle-related awareness.</a:t>
            </a:r>
            <a:br>
              <a:rPr lang="en-US" dirty="0"/>
            </a:br>
            <a:r>
              <a:rPr lang="en-US" dirty="0"/>
              <a:t>A </a:t>
            </a:r>
            <a:r>
              <a:rPr lang="en-US" b="1" dirty="0"/>
              <a:t>servo motor</a:t>
            </a:r>
            <a:r>
              <a:rPr lang="en-US" dirty="0"/>
              <a:t> rotates the PIR sensor for scanning.</a:t>
            </a:r>
            <a:br>
              <a:rPr lang="en-US" dirty="0"/>
            </a:br>
            <a:r>
              <a:rPr lang="en-US" dirty="0"/>
              <a:t>Finally, a </a:t>
            </a:r>
            <a:r>
              <a:rPr lang="en-US" b="1" dirty="0"/>
              <a:t>buzzer and actuators</a:t>
            </a:r>
            <a:r>
              <a:rPr lang="en-US" dirty="0"/>
              <a:t> are used to scare away intruders, and the whole system is powered by a battery pack.</a:t>
            </a:r>
          </a:p>
          <a:p>
            <a:r>
              <a:rPr lang="en-US" dirty="0"/>
              <a:t>These components were selected because they are low-cost, available, and suitable for a working prototype.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uses a </a:t>
            </a:r>
            <a:r>
              <a:rPr lang="en-US" b="1" dirty="0"/>
              <a:t>dual-controller architecture</a:t>
            </a:r>
            <a:r>
              <a:rPr lang="en-US" dirty="0"/>
              <a:t>.</a:t>
            </a:r>
          </a:p>
          <a:p>
            <a:r>
              <a:rPr lang="en-US" dirty="0"/>
              <a:t>The </a:t>
            </a:r>
            <a:r>
              <a:rPr lang="en-US" b="1" dirty="0"/>
              <a:t>Arduino UNO</a:t>
            </a:r>
            <a:r>
              <a:rPr lang="en-US" dirty="0"/>
              <a:t> handles the core robot logic such as sensor reading, line following, navigation, and actuator control.</a:t>
            </a:r>
            <a:br>
              <a:rPr lang="en-US" dirty="0"/>
            </a:br>
            <a:r>
              <a:rPr lang="en-US" dirty="0"/>
              <a:t>The </a:t>
            </a:r>
            <a:r>
              <a:rPr lang="en-US" b="1" dirty="0"/>
              <a:t>ESP32 Dev Board</a:t>
            </a:r>
            <a:r>
              <a:rPr lang="en-US" dirty="0"/>
              <a:t> supports IoT communication and auxiliary output control such as alert-related functions.</a:t>
            </a:r>
          </a:p>
          <a:p>
            <a:r>
              <a:rPr lang="en-US" dirty="0"/>
              <a:t>For inputs, we use the line-following sensors, PIR motion sensor, and ultrasonic sensor.</a:t>
            </a:r>
            <a:br>
              <a:rPr lang="en-US" dirty="0"/>
            </a:br>
            <a:r>
              <a:rPr lang="en-US" dirty="0"/>
              <a:t>For outputs, we control DC motors, the servo motor, buzzer, and deterrent actuators.</a:t>
            </a:r>
          </a:p>
          <a:p>
            <a:r>
              <a:rPr lang="en-US" dirty="0"/>
              <a:t>This separation helps improve organization, stability, and future scalability of the system.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shows the real-time operational sequence of the robot.</a:t>
            </a:r>
          </a:p>
          <a:p>
            <a:r>
              <a:rPr lang="en-US" dirty="0"/>
              <a:t>The system begins with initialization.</a:t>
            </a:r>
            <a:br>
              <a:rPr lang="en-US" dirty="0"/>
            </a:br>
            <a:r>
              <a:rPr lang="en-US" dirty="0"/>
              <a:t>Then the robot follows the line until it reaches a checkpoint.</a:t>
            </a:r>
            <a:br>
              <a:rPr lang="en-US" dirty="0"/>
            </a:br>
            <a:r>
              <a:rPr lang="en-US" dirty="0"/>
              <a:t>At the checkpoint, it stops and performs a scan using the servo-mounted PIR sensor.</a:t>
            </a:r>
            <a:br>
              <a:rPr lang="en-US" dirty="0"/>
            </a:br>
            <a:r>
              <a:rPr lang="en-US" dirty="0"/>
              <a:t>If motion is detected, the buzzer and actuator are activated, and an IoT alert can also be sent.</a:t>
            </a:r>
            <a:br>
              <a:rPr lang="en-US" dirty="0"/>
            </a:br>
            <a:r>
              <a:rPr lang="en-US" dirty="0"/>
              <a:t>If no motion is detected, the robot resumes patrol.</a:t>
            </a:r>
          </a:p>
          <a:p>
            <a:r>
              <a:rPr lang="en-US" dirty="0"/>
              <a:t>This flow allows the robot to operate autonomously in a clear and repeatable way.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our project delivers an </a:t>
            </a:r>
            <a:r>
              <a:rPr lang="en-US" b="1" dirty="0"/>
              <a:t>autonomous, low-cost robotic scarecrow</a:t>
            </a:r>
            <a:r>
              <a:rPr lang="en-US" dirty="0"/>
              <a:t> that can patrol, scan the environment, detect motion, and deter intruders. This helps reduce crop damage and minimize the need for continuous human monitoring.</a:t>
            </a:r>
          </a:p>
          <a:p>
            <a:r>
              <a:rPr lang="en-US" dirty="0"/>
              <a:t>For future improvements, we plan to:</a:t>
            </a:r>
          </a:p>
          <a:p>
            <a:r>
              <a:rPr lang="en-US" dirty="0"/>
              <a:t>test the prototype in real garden conditions, </a:t>
            </a:r>
          </a:p>
          <a:p>
            <a:r>
              <a:rPr lang="en-US" dirty="0"/>
              <a:t>fine-tune sensor thresholds and checkpoint timing, </a:t>
            </a:r>
          </a:p>
          <a:p>
            <a:r>
              <a:rPr lang="en-US" dirty="0"/>
              <a:t>and improve ESP32-based notifications and logging. </a:t>
            </a:r>
          </a:p>
          <a:p>
            <a:r>
              <a:rPr lang="en-US" dirty="0"/>
              <a:t>Overall, this project shows how robotics and IoT can be combined to create a practical smart agriculture solution.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robot follows a predefined path using its line-following sensors.</a:t>
            </a:r>
            <a:br>
              <a:rPr lang="en-US" dirty="0"/>
            </a:br>
            <a:r>
              <a:rPr lang="en-US" dirty="0"/>
              <a:t>When it reaches a checkpoint, it stops automatically.</a:t>
            </a:r>
            <a:br>
              <a:rPr lang="en-US" dirty="0"/>
            </a:br>
            <a:r>
              <a:rPr lang="en-US" dirty="0"/>
              <a:t>Then the servo rotates the PIR sensor to scan the surroundings.</a:t>
            </a:r>
            <a:br>
              <a:rPr lang="en-US" dirty="0"/>
            </a:br>
            <a:r>
              <a:rPr lang="en-US" dirty="0"/>
              <a:t>If motion is detected, the robot activates the buzzer and actuator mechanism to scare away the intruder.</a:t>
            </a:r>
            <a:br>
              <a:rPr lang="en-US" dirty="0"/>
            </a:br>
            <a:r>
              <a:rPr lang="en-US" dirty="0"/>
              <a:t>After the scan is completed or the threat is cleared, the robot resumes patrolling.”</a:t>
            </a:r>
          </a:p>
          <a:p>
            <a:r>
              <a:rPr lang="en-US" b="1" dirty="0"/>
              <a:t>During actual motion</a:t>
            </a:r>
          </a:p>
          <a:p>
            <a:r>
              <a:rPr lang="en-US" dirty="0"/>
              <a:t>Say short lines while demo is happening:</a:t>
            </a:r>
          </a:p>
          <a:p>
            <a:r>
              <a:rPr lang="en-US" dirty="0"/>
              <a:t>“At the moment, the robot is following the line.” </a:t>
            </a:r>
          </a:p>
          <a:p>
            <a:r>
              <a:rPr lang="en-US" dirty="0"/>
              <a:t>“Now it has reached a checkpoint and stopped.” </a:t>
            </a:r>
          </a:p>
          <a:p>
            <a:r>
              <a:rPr lang="en-US" dirty="0"/>
              <a:t>“Now the scanning process starts.” </a:t>
            </a:r>
          </a:p>
          <a:p>
            <a:r>
              <a:rPr lang="en-US" dirty="0"/>
              <a:t>“If movement is detected, the alarm and actuator will activate.” </a:t>
            </a:r>
          </a:p>
          <a:p>
            <a:r>
              <a:rPr lang="en-US"/>
              <a:t>“After that, the robot continues its patrol.”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75968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087880"/>
            <a:ext cx="7556421" cy="1417558"/>
          </a:xfrm>
          <a:prstGeom prst="rect">
            <a:avLst/>
          </a:prstGeom>
          <a:noFill/>
          <a:ln/>
        </p:spPr>
        <p:txBody>
          <a:bodyPr wrap="square" lIns="0" tIns="0" rIns="0" bIns="0" rtlCol="0" anchor="t"/>
          <a:lstStyle/>
          <a:p>
            <a:pPr marL="0" indent="0" algn="l">
              <a:lnSpc>
                <a:spcPts val="5550"/>
              </a:lnSpc>
              <a:buNone/>
            </a:pPr>
            <a:r>
              <a:rPr lang="en-US" sz="4400" b="1" dirty="0">
                <a:solidFill>
                  <a:srgbClr val="282824"/>
                </a:solidFill>
                <a:latin typeface="Segoe UI" panose="020B0502040204020203" pitchFamily="34" charset="0"/>
                <a:ea typeface="Calibri" panose="020F0502020204030204" pitchFamily="34" charset="0"/>
                <a:cs typeface="Segoe UI" panose="020B0502040204020203" pitchFamily="34" charset="0"/>
              </a:rPr>
              <a:t>Autonomous Scarecrow Robot</a:t>
            </a:r>
            <a:endParaRPr lang="en-US" sz="4400" dirty="0">
              <a:latin typeface="Segoe UI" panose="020B0502040204020203" pitchFamily="34" charset="0"/>
              <a:ea typeface="Calibri" panose="020F0502020204030204" pitchFamily="34" charset="0"/>
              <a:cs typeface="Segoe UI" panose="020B0502040204020203" pitchFamily="34" charset="0"/>
            </a:endParaRPr>
          </a:p>
        </p:txBody>
      </p:sp>
      <p:sp>
        <p:nvSpPr>
          <p:cNvPr id="4" name="Text 1"/>
          <p:cNvSpPr/>
          <p:nvPr/>
        </p:nvSpPr>
        <p:spPr>
          <a:xfrm>
            <a:off x="793790" y="3845600"/>
            <a:ext cx="7556421" cy="290274"/>
          </a:xfrm>
          <a:prstGeom prst="rect">
            <a:avLst/>
          </a:prstGeom>
          <a:noFill/>
          <a:ln/>
        </p:spPr>
        <p:txBody>
          <a:bodyPr wrap="none" lIns="0" tIns="0" rIns="0" bIns="0" rtlCol="0" anchor="t"/>
          <a:lstStyle/>
          <a:p>
            <a:pPr marL="0" indent="0" algn="l">
              <a:lnSpc>
                <a:spcPts val="2250"/>
              </a:lnSpc>
              <a:buNone/>
            </a:pPr>
            <a:r>
              <a:rPr lang="en-US" sz="1600" dirty="0">
                <a:solidFill>
                  <a:srgbClr val="4A4A45"/>
                </a:solidFill>
                <a:latin typeface="Segoe UI" panose="020B0502040204020203" pitchFamily="34" charset="0"/>
                <a:ea typeface="Lato" pitchFamily="34" charset="-122"/>
                <a:cs typeface="Segoe UI" panose="020B0502040204020203" pitchFamily="34" charset="0"/>
              </a:rPr>
              <a:t>HND in Computer Science with AI</a:t>
            </a:r>
            <a:endParaRPr lang="en-US" sz="1600" dirty="0">
              <a:latin typeface="Segoe UI" panose="020B0502040204020203" pitchFamily="34" charset="0"/>
              <a:cs typeface="Segoe UI" panose="020B0502040204020203" pitchFamily="34" charset="0"/>
            </a:endParaRPr>
          </a:p>
        </p:txBody>
      </p:sp>
      <p:sp>
        <p:nvSpPr>
          <p:cNvPr id="5" name="Text 2"/>
          <p:cNvSpPr/>
          <p:nvPr/>
        </p:nvSpPr>
        <p:spPr>
          <a:xfrm>
            <a:off x="793790" y="4391025"/>
            <a:ext cx="7556421" cy="659844"/>
          </a:xfrm>
          <a:prstGeom prst="rect">
            <a:avLst/>
          </a:prstGeom>
          <a:noFill/>
          <a:ln/>
        </p:spPr>
        <p:txBody>
          <a:bodyPr wrap="square" lIns="0" tIns="0" rIns="0" bIns="0" rtlCol="0" anchor="t"/>
          <a:lstStyle/>
          <a:p>
            <a:pPr marL="342900" indent="-342900" algn="l">
              <a:lnSpc>
                <a:spcPct val="150000"/>
              </a:lnSpc>
              <a:buSzPct val="100000"/>
              <a:buChar char="•"/>
            </a:pPr>
            <a:r>
              <a:rPr lang="en-US" sz="1600" dirty="0">
                <a:solidFill>
                  <a:srgbClr val="4A4A45"/>
                </a:solidFill>
                <a:latin typeface="Segoe UI" panose="020B0502040204020203" pitchFamily="34" charset="0"/>
                <a:ea typeface="Lato" pitchFamily="34" charset="-122"/>
                <a:cs typeface="Segoe UI" panose="020B0502040204020203" pitchFamily="34" charset="0"/>
              </a:rPr>
              <a:t>L M W K Lansakara – KIC-HNDCSAI-261-F-013 </a:t>
            </a:r>
            <a:endParaRPr lang="en-US" sz="1600" dirty="0">
              <a:latin typeface="Segoe UI" panose="020B0502040204020203" pitchFamily="34" charset="0"/>
              <a:cs typeface="Segoe UI" panose="020B0502040204020203" pitchFamily="34" charset="0"/>
            </a:endParaRPr>
          </a:p>
          <a:p>
            <a:pPr marL="342900" indent="-342900" algn="l">
              <a:lnSpc>
                <a:spcPct val="150000"/>
              </a:lnSpc>
              <a:buSzPct val="100000"/>
              <a:buChar char="•"/>
            </a:pPr>
            <a:r>
              <a:rPr lang="en-US" sz="1600" dirty="0">
                <a:solidFill>
                  <a:srgbClr val="4A4A45"/>
                </a:solidFill>
                <a:latin typeface="Segoe UI" panose="020B0502040204020203" pitchFamily="34" charset="0"/>
                <a:ea typeface="Lato" pitchFamily="34" charset="-122"/>
                <a:cs typeface="Segoe UI" panose="020B0502040204020203" pitchFamily="34" charset="0"/>
              </a:rPr>
              <a:t>L G R Perera – KIC-HNDCSAI-261-F-043 </a:t>
            </a:r>
            <a:endParaRPr lang="en-US" sz="1600" dirty="0">
              <a:latin typeface="Segoe UI" panose="020B0502040204020203" pitchFamily="34" charset="0"/>
              <a:cs typeface="Segoe UI" panose="020B0502040204020203" pitchFamily="34" charset="0"/>
            </a:endParaRPr>
          </a:p>
        </p:txBody>
      </p:sp>
      <p:sp>
        <p:nvSpPr>
          <p:cNvPr id="6" name="Text 3"/>
          <p:cNvSpPr/>
          <p:nvPr/>
        </p:nvSpPr>
        <p:spPr>
          <a:xfrm>
            <a:off x="793789" y="5306020"/>
            <a:ext cx="7556421" cy="290274"/>
          </a:xfrm>
          <a:prstGeom prst="rect">
            <a:avLst/>
          </a:prstGeom>
          <a:noFill/>
          <a:ln/>
        </p:spPr>
        <p:txBody>
          <a:bodyPr wrap="none" lIns="0" tIns="0" rIns="0" bIns="0" rtlCol="0" anchor="t"/>
          <a:lstStyle/>
          <a:p>
            <a:pPr marL="0" indent="0" algn="l">
              <a:lnSpc>
                <a:spcPts val="2250"/>
              </a:lnSpc>
              <a:buNone/>
            </a:pPr>
            <a:r>
              <a:rPr lang="en-US" sz="1600" dirty="0">
                <a:solidFill>
                  <a:srgbClr val="4A4A45"/>
                </a:solidFill>
                <a:latin typeface="Segoe UI" panose="020B0502040204020203" pitchFamily="34" charset="0"/>
                <a:ea typeface="Lato" pitchFamily="34" charset="-122"/>
                <a:cs typeface="Segoe UI" panose="020B0502040204020203" pitchFamily="34" charset="0"/>
              </a:rPr>
              <a:t>Institute: NIBM </a:t>
            </a:r>
            <a:endParaRPr lang="en-US" sz="1600" dirty="0">
              <a:latin typeface="Segoe UI" panose="020B0502040204020203" pitchFamily="34" charset="0"/>
              <a:cs typeface="Segoe UI" panose="020B0502040204020203" pitchFamily="34" charset="0"/>
            </a:endParaRPr>
          </a:p>
        </p:txBody>
      </p:sp>
      <p:sp>
        <p:nvSpPr>
          <p:cNvPr id="7" name="Text 4"/>
          <p:cNvSpPr/>
          <p:nvPr/>
        </p:nvSpPr>
        <p:spPr>
          <a:xfrm>
            <a:off x="793790" y="5851446"/>
            <a:ext cx="7556421" cy="290274"/>
          </a:xfrm>
          <a:prstGeom prst="rect">
            <a:avLst/>
          </a:prstGeom>
          <a:noFill/>
          <a:ln/>
        </p:spPr>
        <p:txBody>
          <a:bodyPr wrap="none" lIns="0" tIns="0" rIns="0" bIns="0" rtlCol="0" anchor="t"/>
          <a:lstStyle/>
          <a:p>
            <a:pPr marL="0" indent="0" algn="l">
              <a:lnSpc>
                <a:spcPts val="2250"/>
              </a:lnSpc>
              <a:buNone/>
            </a:pPr>
            <a:r>
              <a:rPr lang="en-US" sz="1600" dirty="0">
                <a:solidFill>
                  <a:srgbClr val="4A4A45"/>
                </a:solidFill>
                <a:latin typeface="Segoe UI" panose="020B0502040204020203" pitchFamily="34" charset="0"/>
                <a:ea typeface="Lato" pitchFamily="34" charset="-122"/>
                <a:cs typeface="Segoe UI" panose="020B0502040204020203" pitchFamily="34" charset="0"/>
              </a:rPr>
              <a:t>Date: 21/04/2026</a:t>
            </a:r>
            <a:endParaRPr lang="en-US" sz="1600" dirty="0">
              <a:latin typeface="Segoe UI" panose="020B0502040204020203" pitchFamily="34" charset="0"/>
              <a:cs typeface="Segoe UI" panose="020B0502040204020203"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935367"/>
            <a:ext cx="4536519" cy="566976"/>
          </a:xfrm>
          <a:prstGeom prst="rect">
            <a:avLst/>
          </a:prstGeom>
          <a:noFill/>
          <a:ln/>
        </p:spPr>
        <p:txBody>
          <a:bodyPr wrap="none" lIns="0" tIns="0" rIns="0" bIns="0" rtlCol="0" anchor="t"/>
          <a:lstStyle/>
          <a:p>
            <a:pPr marL="0" indent="0" algn="l">
              <a:lnSpc>
                <a:spcPts val="4450"/>
              </a:lnSpc>
              <a:buNone/>
            </a:pPr>
            <a:r>
              <a:rPr lang="en-US" sz="3600" b="1" dirty="0">
                <a:solidFill>
                  <a:srgbClr val="282824"/>
                </a:solidFill>
                <a:latin typeface="Segoe UI" panose="020B0502040204020203" pitchFamily="34" charset="0"/>
                <a:ea typeface="Lato Bold" pitchFamily="34" charset="-122"/>
                <a:cs typeface="Segoe UI" panose="020B0502040204020203" pitchFamily="34" charset="0"/>
              </a:rPr>
              <a:t>Why it matters</a:t>
            </a:r>
            <a:endParaRPr lang="en-US" sz="3600" dirty="0">
              <a:latin typeface="Segoe UI" panose="020B0502040204020203" pitchFamily="34" charset="0"/>
              <a:cs typeface="Segoe UI" panose="020B0502040204020203" pitchFamily="34" charset="0"/>
            </a:endParaRPr>
          </a:p>
        </p:txBody>
      </p:sp>
      <p:sp>
        <p:nvSpPr>
          <p:cNvPr id="4" name="Text 1"/>
          <p:cNvSpPr/>
          <p:nvPr/>
        </p:nvSpPr>
        <p:spPr>
          <a:xfrm>
            <a:off x="793790" y="3842504"/>
            <a:ext cx="7556421" cy="1451610"/>
          </a:xfrm>
          <a:prstGeom prst="rect">
            <a:avLst/>
          </a:prstGeom>
          <a:noFill/>
          <a:ln/>
        </p:spPr>
        <p:txBody>
          <a:bodyPr wrap="square" lIns="0" tIns="0" rIns="0" bIns="0" rtlCol="0" anchor="t"/>
          <a:lstStyle/>
          <a:p>
            <a:pPr marL="0" indent="0" algn="l">
              <a:lnSpc>
                <a:spcPts val="2850"/>
              </a:lnSpc>
              <a:buNone/>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Gardens face frequent damage from animals and intruders, while traditional scarecrows become ineffective over time. Continuous human monitoring is inefficient, so a mobile autonomous solution is needed to improve protection and reduce effort.</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821299"/>
            <a:ext cx="4536519" cy="566976"/>
          </a:xfrm>
          <a:prstGeom prst="rect">
            <a:avLst/>
          </a:prstGeom>
          <a:noFill/>
          <a:ln/>
        </p:spPr>
        <p:txBody>
          <a:bodyPr wrap="none" lIns="0" tIns="0" rIns="0" bIns="0" rtlCol="0" anchor="t"/>
          <a:lstStyle/>
          <a:p>
            <a:pPr marL="0" indent="0" algn="l">
              <a:lnSpc>
                <a:spcPts val="4450"/>
              </a:lnSpc>
              <a:buNone/>
            </a:pPr>
            <a:r>
              <a:rPr lang="en-US" sz="3600" b="1" dirty="0">
                <a:solidFill>
                  <a:srgbClr val="282824"/>
                </a:solidFill>
                <a:latin typeface="Segoe UI" panose="020B0502040204020203" pitchFamily="34" charset="0"/>
                <a:ea typeface="Lato Bold" pitchFamily="34" charset="-122"/>
                <a:cs typeface="Segoe UI" panose="020B0502040204020203" pitchFamily="34" charset="0"/>
              </a:rPr>
              <a:t>Project Overview</a:t>
            </a:r>
            <a:endParaRPr lang="en-US" sz="3600" dirty="0">
              <a:latin typeface="Segoe UI" panose="020B0502040204020203" pitchFamily="34" charset="0"/>
              <a:cs typeface="Segoe UI" panose="020B0502040204020203" pitchFamily="34" charset="0"/>
            </a:endParaRPr>
          </a:p>
        </p:txBody>
      </p:sp>
      <p:sp>
        <p:nvSpPr>
          <p:cNvPr id="4" name="Text 1"/>
          <p:cNvSpPr/>
          <p:nvPr/>
        </p:nvSpPr>
        <p:spPr>
          <a:xfrm>
            <a:off x="793790" y="2728436"/>
            <a:ext cx="7556421" cy="2177415"/>
          </a:xfrm>
          <a:prstGeom prst="rect">
            <a:avLst/>
          </a:prstGeom>
          <a:noFill/>
          <a:ln/>
        </p:spPr>
        <p:txBody>
          <a:bodyPr wrap="square" lIns="0" tIns="0" rIns="0" bIns="0" rtlCol="0" anchor="t"/>
          <a:lstStyle/>
          <a:p>
            <a:pPr marL="0" indent="0" algn="l">
              <a:lnSpc>
                <a:spcPts val="2850"/>
              </a:lnSpc>
              <a:buNone/>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This project presents an autonomous mobile scarecrow robot designed to patrol garden paths, monitor the surroundings, and respond to potential threats. The robot follows a predefined path, performs environmental scanning, detects motion using sensors, and activates deterrents such as a buzzer and mechanical actuators. The system is designed to be low-cost, reliable, and suitable for small farms and home gardens.</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 name="Text 2"/>
          <p:cNvSpPr/>
          <p:nvPr/>
        </p:nvSpPr>
        <p:spPr>
          <a:xfrm>
            <a:off x="793790" y="5161002"/>
            <a:ext cx="7556421" cy="1247299"/>
          </a:xfrm>
          <a:prstGeom prst="rect">
            <a:avLst/>
          </a:prstGeom>
          <a:noFill/>
          <a:ln/>
        </p:spPr>
        <p:txBody>
          <a:bodyPr wrap="square" lIns="0" tIns="0" rIns="0" bIns="0" rtlCol="0" anchor="t"/>
          <a:lstStyle/>
          <a:p>
            <a:pPr marL="342900" indent="-342900" algn="l">
              <a:lnSpc>
                <a:spcPts val="2850"/>
              </a:lnSpc>
              <a:buSzPct val="100000"/>
              <a:buChar char="•"/>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Combines mobility and sensing for active protection</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850"/>
              </a:lnSpc>
              <a:buSzPct val="100000"/>
              <a:buChar char="•"/>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Automated responses reduce the need for manual monitoring</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850"/>
              </a:lnSpc>
              <a:buSzPct val="100000"/>
              <a:buChar char="•"/>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Modular design allows easy upgrades and future improvements</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97838"/>
            <a:ext cx="4536519" cy="566976"/>
          </a:xfrm>
          <a:prstGeom prst="rect">
            <a:avLst/>
          </a:prstGeom>
          <a:noFill/>
          <a:ln/>
        </p:spPr>
        <p:txBody>
          <a:bodyPr wrap="none" lIns="0" tIns="0" rIns="0" bIns="0" rtlCol="0" anchor="t"/>
          <a:lstStyle/>
          <a:p>
            <a:pPr marL="0" indent="0" algn="l">
              <a:lnSpc>
                <a:spcPts val="4450"/>
              </a:lnSpc>
              <a:buNone/>
            </a:pPr>
            <a:r>
              <a:rPr lang="en-US" sz="3600" b="1" dirty="0">
                <a:solidFill>
                  <a:srgbClr val="282824"/>
                </a:solidFill>
                <a:latin typeface="Segoe UI" panose="020B0502040204020203" pitchFamily="34" charset="0"/>
                <a:ea typeface="Lato Bold" pitchFamily="34" charset="-122"/>
                <a:cs typeface="Segoe UI" panose="020B0502040204020203" pitchFamily="34" charset="0"/>
              </a:rPr>
              <a:t>Main Objectives</a:t>
            </a:r>
            <a:endParaRPr lang="en-US" sz="3600" dirty="0">
              <a:latin typeface="Segoe UI" panose="020B0502040204020203" pitchFamily="34" charset="0"/>
              <a:cs typeface="Segoe UI" panose="020B0502040204020203" pitchFamily="34" charset="0"/>
            </a:endParaRPr>
          </a:p>
        </p:txBody>
      </p:sp>
      <p:sp>
        <p:nvSpPr>
          <p:cNvPr id="4" name="Shape 1"/>
          <p:cNvSpPr/>
          <p:nvPr/>
        </p:nvSpPr>
        <p:spPr>
          <a:xfrm>
            <a:off x="793790" y="1704975"/>
            <a:ext cx="3664744" cy="2749987"/>
          </a:xfrm>
          <a:prstGeom prst="roundRect">
            <a:avLst>
              <a:gd name="adj" fmla="val 1237"/>
            </a:avLst>
          </a:prstGeom>
          <a:solidFill>
            <a:srgbClr val="E5DFD2"/>
          </a:solidFill>
          <a:ln/>
        </p:spPr>
        <p:txBody>
          <a:bodyPr/>
          <a:lstStyle/>
          <a:p>
            <a:endParaRPr lang="en-US"/>
          </a:p>
        </p:txBody>
      </p:sp>
      <p:sp>
        <p:nvSpPr>
          <p:cNvPr id="5" name="Text 2"/>
          <p:cNvSpPr/>
          <p:nvPr/>
        </p:nvSpPr>
        <p:spPr>
          <a:xfrm>
            <a:off x="1020604" y="1931789"/>
            <a:ext cx="2856309"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Segoe UI" panose="020B0502040204020203" pitchFamily="34" charset="0"/>
                <a:ea typeface="Lato Bold" pitchFamily="34" charset="-122"/>
                <a:cs typeface="Segoe UI" panose="020B0502040204020203" pitchFamily="34" charset="0"/>
              </a:rPr>
              <a:t>Automated Protection</a:t>
            </a:r>
            <a:endParaRPr lang="en-US" sz="2200" dirty="0">
              <a:latin typeface="Segoe UI" panose="020B0502040204020203" pitchFamily="34" charset="0"/>
              <a:cs typeface="Segoe UI" panose="020B0502040204020203" pitchFamily="34" charset="0"/>
            </a:endParaRPr>
          </a:p>
        </p:txBody>
      </p:sp>
      <p:sp>
        <p:nvSpPr>
          <p:cNvPr id="6" name="Text 3"/>
          <p:cNvSpPr/>
          <p:nvPr/>
        </p:nvSpPr>
        <p:spPr>
          <a:xfrm>
            <a:off x="1020604" y="2422208"/>
            <a:ext cx="3211116" cy="1088708"/>
          </a:xfrm>
          <a:prstGeom prst="rect">
            <a:avLst/>
          </a:prstGeom>
          <a:noFill/>
          <a:ln/>
        </p:spPr>
        <p:txBody>
          <a:bodyPr wrap="square" lIns="0" tIns="0" rIns="0" bIns="0" rtlCol="0" anchor="t"/>
          <a:lstStyle/>
          <a:p>
            <a:pPr marL="0" indent="0" algn="l">
              <a:lnSpc>
                <a:spcPts val="2850"/>
              </a:lnSpc>
              <a:buNone/>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Ensure continuous autonomous patrolling to monitor all critical garden areas.</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7" name="Shape 4"/>
          <p:cNvSpPr/>
          <p:nvPr/>
        </p:nvSpPr>
        <p:spPr>
          <a:xfrm>
            <a:off x="4685348" y="1704975"/>
            <a:ext cx="3664863" cy="2749987"/>
          </a:xfrm>
          <a:prstGeom prst="roundRect">
            <a:avLst>
              <a:gd name="adj" fmla="val 1237"/>
            </a:avLst>
          </a:prstGeom>
          <a:solidFill>
            <a:srgbClr val="E5DFD2"/>
          </a:solidFill>
          <a:ln/>
        </p:spPr>
        <p:txBody>
          <a:bodyPr/>
          <a:lstStyle/>
          <a:p>
            <a:endParaRPr lang="en-US"/>
          </a:p>
        </p:txBody>
      </p:sp>
      <p:sp>
        <p:nvSpPr>
          <p:cNvPr id="8" name="Text 5"/>
          <p:cNvSpPr/>
          <p:nvPr/>
        </p:nvSpPr>
        <p:spPr>
          <a:xfrm>
            <a:off x="4912162" y="1931789"/>
            <a:ext cx="3211235" cy="708660"/>
          </a:xfrm>
          <a:prstGeom prst="rect">
            <a:avLst/>
          </a:prstGeom>
          <a:noFill/>
          <a:ln/>
        </p:spPr>
        <p:txBody>
          <a:bodyPr wrap="square" lIns="0" tIns="0" rIns="0" bIns="0" rtlCol="0" anchor="t"/>
          <a:lstStyle/>
          <a:p>
            <a:pPr marL="0" indent="0" algn="l">
              <a:lnSpc>
                <a:spcPts val="2750"/>
              </a:lnSpc>
              <a:buNone/>
            </a:pPr>
            <a:r>
              <a:rPr lang="en-US" sz="2200" b="1" dirty="0">
                <a:solidFill>
                  <a:srgbClr val="4A4A45"/>
                </a:solidFill>
                <a:latin typeface="Segoe UI" panose="020B0502040204020203" pitchFamily="34" charset="0"/>
                <a:ea typeface="Lato Bold" pitchFamily="34" charset="-122"/>
                <a:cs typeface="Segoe UI" panose="020B0502040204020203" pitchFamily="34" charset="0"/>
              </a:rPr>
              <a:t>Accurate &amp; Reliable Detection</a:t>
            </a:r>
            <a:endParaRPr lang="en-US" sz="2200" dirty="0">
              <a:latin typeface="Segoe UI" panose="020B0502040204020203" pitchFamily="34" charset="0"/>
              <a:cs typeface="Segoe UI" panose="020B0502040204020203" pitchFamily="34" charset="0"/>
            </a:endParaRPr>
          </a:p>
        </p:txBody>
      </p:sp>
      <p:sp>
        <p:nvSpPr>
          <p:cNvPr id="9" name="Text 6"/>
          <p:cNvSpPr/>
          <p:nvPr/>
        </p:nvSpPr>
        <p:spPr>
          <a:xfrm>
            <a:off x="4912162" y="2776538"/>
            <a:ext cx="3211235" cy="1451610"/>
          </a:xfrm>
          <a:prstGeom prst="rect">
            <a:avLst/>
          </a:prstGeom>
          <a:noFill/>
          <a:ln/>
        </p:spPr>
        <p:txBody>
          <a:bodyPr wrap="square" lIns="0" tIns="0" rIns="0" bIns="0" rtlCol="0" anchor="t"/>
          <a:lstStyle/>
          <a:p>
            <a:pPr marL="0" indent="0" algn="l">
              <a:lnSpc>
                <a:spcPts val="2850"/>
              </a:lnSpc>
              <a:buNone/>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Integrate PIR and ultrasonic sensors with a servo-based scanning system for consistent and precise intruder detection.</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0" name="Shape 7"/>
          <p:cNvSpPr/>
          <p:nvPr/>
        </p:nvSpPr>
        <p:spPr>
          <a:xfrm>
            <a:off x="793790" y="4681776"/>
            <a:ext cx="3664744" cy="2749987"/>
          </a:xfrm>
          <a:prstGeom prst="roundRect">
            <a:avLst>
              <a:gd name="adj" fmla="val 1237"/>
            </a:avLst>
          </a:prstGeom>
          <a:solidFill>
            <a:srgbClr val="E5DFD2"/>
          </a:solidFill>
          <a:ln/>
        </p:spPr>
        <p:txBody>
          <a:bodyPr/>
          <a:lstStyle/>
          <a:p>
            <a:endParaRPr lang="en-US"/>
          </a:p>
        </p:txBody>
      </p:sp>
      <p:sp>
        <p:nvSpPr>
          <p:cNvPr id="11" name="Text 8"/>
          <p:cNvSpPr/>
          <p:nvPr/>
        </p:nvSpPr>
        <p:spPr>
          <a:xfrm>
            <a:off x="1020604" y="4908590"/>
            <a:ext cx="3140631"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Segoe UI" panose="020B0502040204020203" pitchFamily="34" charset="0"/>
                <a:ea typeface="Lato Bold" pitchFamily="34" charset="-122"/>
                <a:cs typeface="Segoe UI" panose="020B0502040204020203" pitchFamily="34" charset="0"/>
              </a:rPr>
              <a:t>Extended Area Coverage</a:t>
            </a:r>
            <a:endParaRPr lang="en-US" sz="2200" dirty="0">
              <a:latin typeface="Segoe UI" panose="020B0502040204020203" pitchFamily="34" charset="0"/>
              <a:cs typeface="Segoe UI" panose="020B0502040204020203" pitchFamily="34" charset="0"/>
            </a:endParaRPr>
          </a:p>
        </p:txBody>
      </p:sp>
      <p:sp>
        <p:nvSpPr>
          <p:cNvPr id="12" name="Text 9"/>
          <p:cNvSpPr/>
          <p:nvPr/>
        </p:nvSpPr>
        <p:spPr>
          <a:xfrm>
            <a:off x="1020604" y="5399008"/>
            <a:ext cx="3211116" cy="1451610"/>
          </a:xfrm>
          <a:prstGeom prst="rect">
            <a:avLst/>
          </a:prstGeom>
          <a:noFill/>
          <a:ln/>
        </p:spPr>
        <p:txBody>
          <a:bodyPr wrap="square" lIns="0" tIns="0" rIns="0" bIns="0" rtlCol="0" anchor="t"/>
          <a:lstStyle/>
          <a:p>
            <a:pPr marL="0" indent="0" algn="l">
              <a:lnSpc>
                <a:spcPts val="2850"/>
              </a:lnSpc>
              <a:buNone/>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Utilize line-following navigation with predefined checkpoints to effectively cover multiple sections of the garden.</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3" name="Shape 10"/>
          <p:cNvSpPr/>
          <p:nvPr/>
        </p:nvSpPr>
        <p:spPr>
          <a:xfrm>
            <a:off x="4685348" y="4681776"/>
            <a:ext cx="3664863" cy="2749987"/>
          </a:xfrm>
          <a:prstGeom prst="roundRect">
            <a:avLst>
              <a:gd name="adj" fmla="val 1237"/>
            </a:avLst>
          </a:prstGeom>
          <a:solidFill>
            <a:srgbClr val="E5DFD2"/>
          </a:solidFill>
          <a:ln/>
        </p:spPr>
        <p:txBody>
          <a:bodyPr/>
          <a:lstStyle/>
          <a:p>
            <a:endParaRPr lang="en-US"/>
          </a:p>
        </p:txBody>
      </p:sp>
      <p:sp>
        <p:nvSpPr>
          <p:cNvPr id="14" name="Text 11"/>
          <p:cNvSpPr/>
          <p:nvPr/>
        </p:nvSpPr>
        <p:spPr>
          <a:xfrm>
            <a:off x="4912162" y="4908590"/>
            <a:ext cx="3211235" cy="708660"/>
          </a:xfrm>
          <a:prstGeom prst="rect">
            <a:avLst/>
          </a:prstGeom>
          <a:noFill/>
          <a:ln/>
        </p:spPr>
        <p:txBody>
          <a:bodyPr wrap="square" lIns="0" tIns="0" rIns="0" bIns="0" rtlCol="0" anchor="t"/>
          <a:lstStyle/>
          <a:p>
            <a:pPr marL="0" indent="0" algn="l">
              <a:lnSpc>
                <a:spcPts val="2750"/>
              </a:lnSpc>
              <a:buNone/>
            </a:pPr>
            <a:r>
              <a:rPr lang="en-US" sz="2200" b="1" dirty="0">
                <a:solidFill>
                  <a:srgbClr val="4A4A45"/>
                </a:solidFill>
                <a:latin typeface="Segoe UI" panose="020B0502040204020203" pitchFamily="34" charset="0"/>
                <a:ea typeface="Lato Bold" pitchFamily="34" charset="-122"/>
                <a:cs typeface="Segoe UI" panose="020B0502040204020203" pitchFamily="34" charset="0"/>
              </a:rPr>
              <a:t>Minimized Human Intervention</a:t>
            </a:r>
            <a:endParaRPr lang="en-US" sz="2200" dirty="0">
              <a:latin typeface="Segoe UI" panose="020B0502040204020203" pitchFamily="34" charset="0"/>
              <a:cs typeface="Segoe UI" panose="020B0502040204020203" pitchFamily="34" charset="0"/>
            </a:endParaRPr>
          </a:p>
        </p:txBody>
      </p:sp>
      <p:sp>
        <p:nvSpPr>
          <p:cNvPr id="15" name="Text 12"/>
          <p:cNvSpPr/>
          <p:nvPr/>
        </p:nvSpPr>
        <p:spPr>
          <a:xfrm>
            <a:off x="4912162" y="5753338"/>
            <a:ext cx="3211235" cy="1451610"/>
          </a:xfrm>
          <a:prstGeom prst="rect">
            <a:avLst/>
          </a:prstGeom>
          <a:noFill/>
          <a:ln/>
        </p:spPr>
        <p:txBody>
          <a:bodyPr wrap="square" lIns="0" tIns="0" rIns="0" bIns="0" rtlCol="0" anchor="t"/>
          <a:lstStyle/>
          <a:p>
            <a:pPr marL="0" indent="0" algn="l">
              <a:lnSpc>
                <a:spcPts val="2850"/>
              </a:lnSpc>
              <a:buNone/>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Automate alerts and response actions to significantly reduce the need for manual monitoring and control.</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88" y="1594722"/>
            <a:ext cx="4536519" cy="566976"/>
          </a:xfrm>
          <a:prstGeom prst="rect">
            <a:avLst/>
          </a:prstGeom>
          <a:noFill/>
          <a:ln/>
        </p:spPr>
        <p:txBody>
          <a:bodyPr wrap="none" lIns="0" tIns="0" rIns="0" bIns="0" rtlCol="0" anchor="t"/>
          <a:lstStyle/>
          <a:p>
            <a:pPr marL="0" indent="0" algn="l">
              <a:lnSpc>
                <a:spcPts val="4450"/>
              </a:lnSpc>
              <a:buNone/>
            </a:pPr>
            <a:r>
              <a:rPr lang="en-US" sz="3600" b="1" dirty="0">
                <a:solidFill>
                  <a:srgbClr val="282824"/>
                </a:solidFill>
                <a:latin typeface="Segoe UI" panose="020B0502040204020203" pitchFamily="34" charset="0"/>
                <a:ea typeface="Lato Bold" pitchFamily="34" charset="-122"/>
                <a:cs typeface="Segoe UI" panose="020B0502040204020203" pitchFamily="34" charset="0"/>
              </a:rPr>
              <a:t>Main Functions</a:t>
            </a:r>
            <a:endParaRPr lang="en-US" sz="3600" dirty="0">
              <a:latin typeface="Segoe UI" panose="020B0502040204020203" pitchFamily="34" charset="0"/>
              <a:cs typeface="Segoe UI" panose="020B0502040204020203" pitchFamily="34" charset="0"/>
            </a:endParaRPr>
          </a:p>
        </p:txBody>
      </p:sp>
      <p:sp>
        <p:nvSpPr>
          <p:cNvPr id="4" name="Text 1"/>
          <p:cNvSpPr/>
          <p:nvPr/>
        </p:nvSpPr>
        <p:spPr>
          <a:xfrm>
            <a:off x="793788" y="2602348"/>
            <a:ext cx="7556421" cy="3024904"/>
          </a:xfrm>
          <a:prstGeom prst="rect">
            <a:avLst/>
          </a:prstGeom>
          <a:noFill/>
          <a:ln/>
        </p:spPr>
        <p:txBody>
          <a:bodyPr wrap="square" lIns="0" tIns="0" rIns="0" bIns="0" rtlCol="0" anchor="t"/>
          <a:lstStyle/>
          <a:p>
            <a:pPr marL="342900" indent="-342900" algn="l">
              <a:lnSpc>
                <a:spcPct val="150000"/>
              </a:lnSpc>
              <a:buSzPct val="100000"/>
              <a:buChar char="•"/>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Line-following navigation to follow predefined paths and reach checkpoints</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ct val="150000"/>
              </a:lnSpc>
              <a:buSzPct val="100000"/>
              <a:buChar char="•"/>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Stops at checkpoints to perform environmental scanning</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ct val="150000"/>
              </a:lnSpc>
              <a:buSzPct val="100000"/>
              <a:buChar char="•"/>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270° scanning using a servo-mounted PIR sensor for wide area coverage</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ct val="150000"/>
              </a:lnSpc>
              <a:buSzPct val="100000"/>
              <a:buChar char="•"/>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Motion detection using PIR sensor with distance verification via ultrasonic sensor</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ct val="150000"/>
              </a:lnSpc>
              <a:buSzPct val="100000"/>
              <a:buChar char="•"/>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Alarm activation (buzzer) and actuator movement to deter intruders</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ct val="150000"/>
              </a:lnSpc>
              <a:buSzPct val="100000"/>
              <a:buChar char="•"/>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Optional IoT alerts via ESP32 Dev Board for remote notifications</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 name="Text 2"/>
          <p:cNvSpPr/>
          <p:nvPr/>
        </p:nvSpPr>
        <p:spPr>
          <a:xfrm>
            <a:off x="793787" y="6067902"/>
            <a:ext cx="7556421" cy="725805"/>
          </a:xfrm>
          <a:prstGeom prst="rect">
            <a:avLst/>
          </a:prstGeom>
          <a:noFill/>
          <a:ln/>
        </p:spPr>
        <p:txBody>
          <a:bodyPr wrap="square" lIns="0" tIns="0" rIns="0" bIns="0" rtlCol="0" anchor="t"/>
          <a:lstStyle/>
          <a:p>
            <a:pPr marL="0" indent="0" algn="l">
              <a:lnSpc>
                <a:spcPts val="2850"/>
              </a:lnSpc>
              <a:buNone/>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These functions work together to create a complete automated monitoring and deterrence system.</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390055"/>
            <a:ext cx="6036231" cy="566976"/>
          </a:xfrm>
          <a:prstGeom prst="rect">
            <a:avLst/>
          </a:prstGeom>
          <a:noFill/>
          <a:ln/>
        </p:spPr>
        <p:txBody>
          <a:bodyPr wrap="none" lIns="0" tIns="0" rIns="0" bIns="0" rtlCol="0" anchor="t"/>
          <a:lstStyle/>
          <a:p>
            <a:pPr marL="0" indent="0" algn="l">
              <a:lnSpc>
                <a:spcPts val="4450"/>
              </a:lnSpc>
              <a:buNone/>
            </a:pPr>
            <a:r>
              <a:rPr lang="en-US" sz="3600" b="1" dirty="0">
                <a:solidFill>
                  <a:srgbClr val="282824"/>
                </a:solidFill>
                <a:latin typeface="Segoe UI" panose="020B0502040204020203" pitchFamily="34" charset="0"/>
                <a:ea typeface="Lato Bold" pitchFamily="34" charset="-122"/>
                <a:cs typeface="Segoe UI" panose="020B0502040204020203" pitchFamily="34" charset="0"/>
              </a:rPr>
              <a:t>System Working — Core Logic</a:t>
            </a:r>
            <a:endParaRPr lang="en-US" sz="3600" dirty="0">
              <a:latin typeface="Segoe UI" panose="020B0502040204020203" pitchFamily="34" charset="0"/>
              <a:cs typeface="Segoe UI" panose="020B0502040204020203" pitchFamily="34" charset="0"/>
            </a:endParaRPr>
          </a:p>
        </p:txBody>
      </p:sp>
      <p:pic>
        <p:nvPicPr>
          <p:cNvPr id="4" name="Image 1" descr="preencoded.png"/>
          <p:cNvPicPr>
            <a:picLocks noChangeAspect="1"/>
          </p:cNvPicPr>
          <p:nvPr/>
        </p:nvPicPr>
        <p:blipFill>
          <a:blip r:embed="rId4"/>
          <a:stretch>
            <a:fillRect/>
          </a:stretch>
        </p:blipFill>
        <p:spPr>
          <a:xfrm>
            <a:off x="793790" y="2274890"/>
            <a:ext cx="7556421" cy="2835473"/>
          </a:xfrm>
          <a:prstGeom prst="rect">
            <a:avLst/>
          </a:prstGeom>
        </p:spPr>
      </p:pic>
      <p:pic>
        <p:nvPicPr>
          <p:cNvPr id="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7016" y="3019438"/>
            <a:ext cx="390314" cy="390314"/>
          </a:xfrm>
          <a:prstGeom prst="rect">
            <a:avLst/>
          </a:prstGeom>
        </p:spPr>
      </p:pic>
      <p:sp>
        <p:nvSpPr>
          <p:cNvPr id="6" name="Text 1"/>
          <p:cNvSpPr/>
          <p:nvPr/>
        </p:nvSpPr>
        <p:spPr>
          <a:xfrm>
            <a:off x="6899271" y="4193551"/>
            <a:ext cx="1139717" cy="721106"/>
          </a:xfrm>
          <a:prstGeom prst="rect">
            <a:avLst/>
          </a:prstGeom>
          <a:noFill/>
          <a:ln/>
        </p:spPr>
        <p:txBody>
          <a:bodyPr wrap="square" lIns="0" tIns="0" rIns="0" bIns="0" rtlCol="0" anchor="t"/>
          <a:lstStyle/>
          <a:p>
            <a:pPr marL="0" indent="0" algn="ctr">
              <a:lnSpc>
                <a:spcPts val="1700"/>
              </a:lnSpc>
              <a:buNone/>
            </a:pPr>
            <a:r>
              <a:rPr lang="en-US" sz="1400" b="1" dirty="0">
                <a:solidFill>
                  <a:srgbClr val="4A4A45"/>
                </a:solidFill>
                <a:latin typeface="Segoe UI" panose="020B0502040204020203" pitchFamily="34" charset="0"/>
                <a:ea typeface="Lato Bold" pitchFamily="34" charset="-122"/>
                <a:cs typeface="Segoe UI" panose="020B0502040204020203" pitchFamily="34" charset="0"/>
              </a:rPr>
              <a:t>Motion? </a:t>
            </a:r>
          </a:p>
          <a:p>
            <a:pPr marL="0" indent="0" algn="ctr">
              <a:lnSpc>
                <a:spcPts val="1700"/>
              </a:lnSpc>
              <a:buNone/>
            </a:pPr>
            <a:r>
              <a:rPr lang="en-US" sz="1400" b="1" dirty="0">
                <a:solidFill>
                  <a:srgbClr val="4A4A45"/>
                </a:solidFill>
                <a:latin typeface="Segoe UI" panose="020B0502040204020203" pitchFamily="34" charset="0"/>
                <a:ea typeface="Lato Bold" pitchFamily="34" charset="-122"/>
                <a:cs typeface="Segoe UI" panose="020B0502040204020203" pitchFamily="34" charset="0"/>
              </a:rPr>
              <a:t>Alarm +</a:t>
            </a:r>
          </a:p>
          <a:p>
            <a:pPr algn="ctr">
              <a:lnSpc>
                <a:spcPts val="1700"/>
              </a:lnSpc>
            </a:pPr>
            <a:r>
              <a:rPr lang="en-US" sz="1400" b="1" dirty="0">
                <a:solidFill>
                  <a:srgbClr val="4A4A45"/>
                </a:solidFill>
                <a:latin typeface="Segoe UI" panose="020B0502040204020203" pitchFamily="34" charset="0"/>
                <a:ea typeface="Lato Bold" pitchFamily="34" charset="-122"/>
                <a:cs typeface="Segoe UI" panose="020B0502040204020203" pitchFamily="34" charset="0"/>
              </a:rPr>
              <a:t>Actuator</a:t>
            </a:r>
            <a:endParaRPr lang="en-US" sz="1400" dirty="0">
              <a:latin typeface="Segoe UI" panose="020B0502040204020203" pitchFamily="34" charset="0"/>
              <a:cs typeface="Segoe UI" panose="020B0502040204020203" pitchFamily="34" charset="0"/>
            </a:endParaRPr>
          </a:p>
          <a:p>
            <a:pPr marL="0" indent="0" algn="ctr">
              <a:lnSpc>
                <a:spcPts val="1700"/>
              </a:lnSpc>
              <a:buNone/>
            </a:pPr>
            <a:endParaRPr lang="en-US" sz="1400" dirty="0">
              <a:latin typeface="Segoe UI" panose="020B0502040204020203" pitchFamily="34" charset="0"/>
              <a:cs typeface="Segoe UI" panose="020B0502040204020203" pitchFamily="34" charset="0"/>
            </a:endParaRPr>
          </a:p>
        </p:txBody>
      </p:sp>
      <p:sp>
        <p:nvSpPr>
          <p:cNvPr id="7" name="Text 2"/>
          <p:cNvSpPr/>
          <p:nvPr/>
        </p:nvSpPr>
        <p:spPr>
          <a:xfrm>
            <a:off x="6899271" y="4695105"/>
            <a:ext cx="1139717" cy="219552"/>
          </a:xfrm>
          <a:prstGeom prst="rect">
            <a:avLst/>
          </a:prstGeom>
          <a:noFill/>
          <a:ln/>
        </p:spPr>
        <p:txBody>
          <a:bodyPr wrap="none" lIns="0" tIns="0" rIns="0" bIns="0" rtlCol="0" anchor="t"/>
          <a:lstStyle/>
          <a:p>
            <a:pPr marL="0" indent="0" algn="ctr">
              <a:lnSpc>
                <a:spcPts val="1700"/>
              </a:lnSpc>
              <a:buNone/>
            </a:pPr>
            <a:endParaRPr lang="en-US" sz="1350" dirty="0"/>
          </a:p>
        </p:txBody>
      </p:sp>
      <p:pic>
        <p:nvPicPr>
          <p:cNvPr id="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18101" y="3020170"/>
            <a:ext cx="390314" cy="390314"/>
          </a:xfrm>
          <a:prstGeom prst="rect">
            <a:avLst/>
          </a:prstGeom>
        </p:spPr>
      </p:pic>
      <p:sp>
        <p:nvSpPr>
          <p:cNvPr id="9" name="Text 3"/>
          <p:cNvSpPr/>
          <p:nvPr/>
        </p:nvSpPr>
        <p:spPr>
          <a:xfrm>
            <a:off x="5462915" y="4334552"/>
            <a:ext cx="1139717" cy="439103"/>
          </a:xfrm>
          <a:prstGeom prst="rect">
            <a:avLst/>
          </a:prstGeom>
          <a:noFill/>
          <a:ln/>
        </p:spPr>
        <p:txBody>
          <a:bodyPr wrap="square" lIns="0" tIns="0" rIns="0" bIns="0" rtlCol="0" anchor="t"/>
          <a:lstStyle/>
          <a:p>
            <a:pPr marL="0" indent="0" algn="ctr">
              <a:lnSpc>
                <a:spcPts val="1700"/>
              </a:lnSpc>
              <a:buNone/>
            </a:pPr>
            <a:r>
              <a:rPr lang="en-US" sz="1400" b="1" dirty="0">
                <a:solidFill>
                  <a:srgbClr val="4A4A45"/>
                </a:solidFill>
                <a:latin typeface="Segoe UI" panose="020B0502040204020203" pitchFamily="34" charset="0"/>
                <a:ea typeface="Lato Bold" pitchFamily="34" charset="-122"/>
                <a:cs typeface="Segoe UI" panose="020B0502040204020203" pitchFamily="34" charset="0"/>
              </a:rPr>
              <a:t>Scan (PIR on Servo)</a:t>
            </a:r>
            <a:endParaRPr lang="en-US" sz="1400" dirty="0">
              <a:latin typeface="Segoe UI" panose="020B0502040204020203" pitchFamily="34" charset="0"/>
              <a:cs typeface="Segoe UI" panose="020B0502040204020203" pitchFamily="34" charset="0"/>
            </a:endParaRPr>
          </a:p>
        </p:txBody>
      </p:sp>
      <p:pic>
        <p:nvPicPr>
          <p:cNvPr id="1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89552" y="3020170"/>
            <a:ext cx="390314" cy="390314"/>
          </a:xfrm>
          <a:prstGeom prst="rect">
            <a:avLst/>
          </a:prstGeom>
        </p:spPr>
      </p:pic>
      <p:sp>
        <p:nvSpPr>
          <p:cNvPr id="11" name="Text 4"/>
          <p:cNvSpPr/>
          <p:nvPr/>
        </p:nvSpPr>
        <p:spPr>
          <a:xfrm>
            <a:off x="4034366" y="4444328"/>
            <a:ext cx="1139717" cy="219552"/>
          </a:xfrm>
          <a:prstGeom prst="rect">
            <a:avLst/>
          </a:prstGeom>
          <a:noFill/>
          <a:ln/>
        </p:spPr>
        <p:txBody>
          <a:bodyPr wrap="none" lIns="0" tIns="0" rIns="0" bIns="0" rtlCol="0" anchor="t"/>
          <a:lstStyle/>
          <a:p>
            <a:pPr marL="0" indent="0" algn="ctr">
              <a:lnSpc>
                <a:spcPts val="1700"/>
              </a:lnSpc>
              <a:buNone/>
            </a:pPr>
            <a:r>
              <a:rPr lang="en-US" sz="1400" b="1" dirty="0">
                <a:solidFill>
                  <a:srgbClr val="4A4A45"/>
                </a:solidFill>
                <a:latin typeface="Segoe UI" panose="020B0502040204020203" pitchFamily="34" charset="0"/>
                <a:ea typeface="Lato Bold" pitchFamily="34" charset="-122"/>
                <a:cs typeface="Segoe UI" panose="020B0502040204020203" pitchFamily="34" charset="0"/>
              </a:rPr>
              <a:t>Stop</a:t>
            </a:r>
            <a:endParaRPr lang="en-US" sz="1400" dirty="0">
              <a:latin typeface="Segoe UI" panose="020B0502040204020203" pitchFamily="34" charset="0"/>
              <a:cs typeface="Segoe UI" panose="020B0502040204020203" pitchFamily="34" charset="0"/>
            </a:endParaRPr>
          </a:p>
        </p:txBody>
      </p:sp>
      <p:pic>
        <p:nvPicPr>
          <p:cNvPr id="1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61002" y="3020170"/>
            <a:ext cx="390314" cy="390314"/>
          </a:xfrm>
          <a:prstGeom prst="rect">
            <a:avLst/>
          </a:prstGeom>
        </p:spPr>
      </p:pic>
      <p:sp>
        <p:nvSpPr>
          <p:cNvPr id="13" name="Text 5"/>
          <p:cNvSpPr/>
          <p:nvPr/>
        </p:nvSpPr>
        <p:spPr>
          <a:xfrm>
            <a:off x="2605817" y="4334552"/>
            <a:ext cx="1139717" cy="439103"/>
          </a:xfrm>
          <a:prstGeom prst="rect">
            <a:avLst/>
          </a:prstGeom>
          <a:noFill/>
          <a:ln/>
        </p:spPr>
        <p:txBody>
          <a:bodyPr wrap="square" lIns="0" tIns="0" rIns="0" bIns="0" rtlCol="0" anchor="t"/>
          <a:lstStyle/>
          <a:p>
            <a:pPr marL="0" indent="0" algn="ctr">
              <a:lnSpc>
                <a:spcPts val="1700"/>
              </a:lnSpc>
              <a:buNone/>
            </a:pPr>
            <a:r>
              <a:rPr lang="en-US" sz="1400" b="1" dirty="0">
                <a:solidFill>
                  <a:srgbClr val="4A4A45"/>
                </a:solidFill>
                <a:latin typeface="Segoe UI" panose="020B0502040204020203" pitchFamily="34" charset="0"/>
                <a:ea typeface="Lato Bold" pitchFamily="34" charset="-122"/>
                <a:cs typeface="Segoe UI" panose="020B0502040204020203" pitchFamily="34" charset="0"/>
              </a:rPr>
              <a:t>Reach Checkpoint</a:t>
            </a:r>
            <a:endParaRPr lang="en-US" sz="1400" dirty="0">
              <a:latin typeface="Segoe UI" panose="020B0502040204020203" pitchFamily="34" charset="0"/>
              <a:cs typeface="Segoe UI" panose="020B0502040204020203" pitchFamily="34" charset="0"/>
            </a:endParaRPr>
          </a:p>
        </p:txBody>
      </p:sp>
      <p:pic>
        <p:nvPicPr>
          <p:cNvPr id="14"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24647" y="3020170"/>
            <a:ext cx="390314" cy="390314"/>
          </a:xfrm>
          <a:prstGeom prst="rect">
            <a:avLst/>
          </a:prstGeom>
        </p:spPr>
      </p:pic>
      <p:sp>
        <p:nvSpPr>
          <p:cNvPr id="15" name="Text 6"/>
          <p:cNvSpPr/>
          <p:nvPr/>
        </p:nvSpPr>
        <p:spPr>
          <a:xfrm>
            <a:off x="1146042" y="4444328"/>
            <a:ext cx="1139717" cy="219552"/>
          </a:xfrm>
          <a:prstGeom prst="rect">
            <a:avLst/>
          </a:prstGeom>
          <a:noFill/>
          <a:ln/>
        </p:spPr>
        <p:txBody>
          <a:bodyPr wrap="none" lIns="0" tIns="0" rIns="0" bIns="0" rtlCol="0" anchor="t"/>
          <a:lstStyle/>
          <a:p>
            <a:pPr marL="0" indent="0" algn="ctr">
              <a:lnSpc>
                <a:spcPts val="1700"/>
              </a:lnSpc>
              <a:buNone/>
            </a:pPr>
            <a:r>
              <a:rPr lang="en-US" sz="1400" b="1" dirty="0">
                <a:solidFill>
                  <a:srgbClr val="4A4A45"/>
                </a:solidFill>
                <a:latin typeface="Segoe UI" panose="020B0502040204020203" pitchFamily="34" charset="0"/>
                <a:ea typeface="Lato Bold" pitchFamily="34" charset="-122"/>
                <a:cs typeface="Segoe UI" panose="020B0502040204020203" pitchFamily="34" charset="0"/>
              </a:rPr>
              <a:t>Follow Line</a:t>
            </a:r>
            <a:endParaRPr lang="en-US" sz="1400" dirty="0">
              <a:latin typeface="Segoe UI" panose="020B0502040204020203" pitchFamily="34" charset="0"/>
              <a:cs typeface="Segoe UI" panose="020B0502040204020203" pitchFamily="34" charset="0"/>
            </a:endParaRPr>
          </a:p>
        </p:txBody>
      </p:sp>
      <p:sp>
        <p:nvSpPr>
          <p:cNvPr id="16" name="Text 7"/>
          <p:cNvSpPr/>
          <p:nvPr/>
        </p:nvSpPr>
        <p:spPr>
          <a:xfrm>
            <a:off x="793790" y="5387816"/>
            <a:ext cx="7556421" cy="1451610"/>
          </a:xfrm>
          <a:prstGeom prst="rect">
            <a:avLst/>
          </a:prstGeom>
          <a:noFill/>
          <a:ln/>
        </p:spPr>
        <p:txBody>
          <a:bodyPr wrap="square" lIns="0" tIns="0" rIns="0" bIns="0" rtlCol="0" anchor="t"/>
          <a:lstStyle/>
          <a:p>
            <a:pPr marL="0" indent="0" algn="l">
              <a:lnSpc>
                <a:spcPts val="2850"/>
              </a:lnSpc>
              <a:buNone/>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The robot follows the path, stops at checkpoints, scans the environment, detects motion, trigger alarm and activate actuators, and then resumes movement. Motion confirmation uses PIR and ultrasonic sensors to reduce false detections.</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158239"/>
            <a:ext cx="7020401" cy="566976"/>
          </a:xfrm>
          <a:prstGeom prst="rect">
            <a:avLst/>
          </a:prstGeom>
          <a:noFill/>
          <a:ln/>
        </p:spPr>
        <p:txBody>
          <a:bodyPr wrap="none" lIns="0" tIns="0" rIns="0" bIns="0" rtlCol="0" anchor="t"/>
          <a:lstStyle/>
          <a:p>
            <a:pPr marL="0" indent="0" algn="l">
              <a:lnSpc>
                <a:spcPts val="4450"/>
              </a:lnSpc>
              <a:buNone/>
            </a:pPr>
            <a:r>
              <a:rPr lang="en-US" sz="3600" b="1" dirty="0">
                <a:solidFill>
                  <a:srgbClr val="282824"/>
                </a:solidFill>
                <a:latin typeface="Segoe UI" panose="020B0502040204020203" pitchFamily="34" charset="0"/>
                <a:ea typeface="Lato Bold" pitchFamily="34" charset="-122"/>
                <a:cs typeface="Segoe UI" panose="020B0502040204020203" pitchFamily="34" charset="0"/>
              </a:rPr>
              <a:t>Bill of Materials (Key Components)</a:t>
            </a:r>
            <a:endParaRPr lang="en-US" sz="3600" dirty="0">
              <a:latin typeface="Segoe UI" panose="020B0502040204020203" pitchFamily="34" charset="0"/>
              <a:cs typeface="Segoe UI" panose="020B0502040204020203" pitchFamily="34" charset="0"/>
            </a:endParaRPr>
          </a:p>
        </p:txBody>
      </p:sp>
      <p:sp>
        <p:nvSpPr>
          <p:cNvPr id="4" name="Text 1"/>
          <p:cNvSpPr/>
          <p:nvPr/>
        </p:nvSpPr>
        <p:spPr>
          <a:xfrm>
            <a:off x="793790" y="2230088"/>
            <a:ext cx="7556421" cy="3769423"/>
          </a:xfrm>
          <a:prstGeom prst="rect">
            <a:avLst/>
          </a:prstGeom>
          <a:noFill/>
          <a:ln/>
        </p:spPr>
        <p:txBody>
          <a:bodyPr wrap="square" lIns="0" tIns="0" rIns="0" bIns="0" rtlCol="0" anchor="t"/>
          <a:lstStyle/>
          <a:p>
            <a:pPr marL="342900" indent="-342900" algn="l">
              <a:lnSpc>
                <a:spcPts val="2850"/>
              </a:lnSpc>
              <a:buSzPct val="100000"/>
              <a:buChar char="•"/>
            </a:pPr>
            <a:r>
              <a:rPr lang="en-US" b="1" dirty="0">
                <a:solidFill>
                  <a:srgbClr val="4A4A45"/>
                </a:solidFill>
                <a:latin typeface="Calibri" panose="020F0502020204030204" pitchFamily="34" charset="0"/>
                <a:ea typeface="Calibri" panose="020F0502020204030204" pitchFamily="34" charset="0"/>
                <a:cs typeface="Calibri" panose="020F0502020204030204" pitchFamily="34" charset="0"/>
              </a:rPr>
              <a:t>Arduino UNO</a:t>
            </a: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 — central controller</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850"/>
              </a:lnSpc>
              <a:buSzPct val="100000"/>
              <a:buChar char="•"/>
            </a:pPr>
            <a:r>
              <a:rPr lang="en-US" b="1" dirty="0">
                <a:solidFill>
                  <a:srgbClr val="4A4A45"/>
                </a:solidFill>
                <a:latin typeface="Calibri" panose="020F0502020204030204" pitchFamily="34" charset="0"/>
                <a:ea typeface="Calibri" panose="020F0502020204030204" pitchFamily="34" charset="0"/>
                <a:cs typeface="Calibri" panose="020F0502020204030204" pitchFamily="34" charset="0"/>
              </a:rPr>
              <a:t>ESP32 Dev Board</a:t>
            </a: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 — IoT alerts and remote monitoring</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850"/>
              </a:lnSpc>
              <a:buSzPct val="100000"/>
              <a:buChar char="•"/>
            </a:pPr>
            <a:r>
              <a:rPr lang="en-US" b="1" dirty="0">
                <a:solidFill>
                  <a:srgbClr val="4A4A45"/>
                </a:solidFill>
                <a:latin typeface="Calibri" panose="020F0502020204030204" pitchFamily="34" charset="0"/>
                <a:ea typeface="Calibri" panose="020F0502020204030204" pitchFamily="34" charset="0"/>
                <a:cs typeface="Calibri" panose="020F0502020204030204" pitchFamily="34" charset="0"/>
              </a:rPr>
              <a:t>L298N Motor Driver</a:t>
            </a: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 — controls DC motors and movement</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850"/>
              </a:lnSpc>
              <a:buSzPct val="100000"/>
              <a:buChar char="•"/>
            </a:pPr>
            <a:r>
              <a:rPr lang="en-US" b="1" dirty="0">
                <a:solidFill>
                  <a:srgbClr val="4A4A45"/>
                </a:solidFill>
                <a:latin typeface="Calibri" panose="020F0502020204030204" pitchFamily="34" charset="0"/>
                <a:ea typeface="Calibri" panose="020F0502020204030204" pitchFamily="34" charset="0"/>
                <a:cs typeface="Calibri" panose="020F0502020204030204" pitchFamily="34" charset="0"/>
              </a:rPr>
              <a:t>DC Motors + Wheels</a:t>
            </a: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 — differential drive for mobility</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850"/>
              </a:lnSpc>
              <a:buSzPct val="100000"/>
              <a:buChar char="•"/>
            </a:pPr>
            <a:r>
              <a:rPr lang="en-US" b="1" dirty="0">
                <a:solidFill>
                  <a:srgbClr val="4A4A45"/>
                </a:solidFill>
                <a:latin typeface="Calibri" panose="020F0502020204030204" pitchFamily="34" charset="0"/>
                <a:ea typeface="Calibri" panose="020F0502020204030204" pitchFamily="34" charset="0"/>
                <a:cs typeface="Calibri" panose="020F0502020204030204" pitchFamily="34" charset="0"/>
              </a:rPr>
              <a:t>Line-Following Sensor Array</a:t>
            </a: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 — path navigation</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850"/>
              </a:lnSpc>
              <a:buSzPct val="100000"/>
              <a:buChar char="•"/>
            </a:pPr>
            <a:r>
              <a:rPr lang="en-US" b="1" dirty="0">
                <a:solidFill>
                  <a:srgbClr val="4A4A45"/>
                </a:solidFill>
                <a:latin typeface="Calibri" panose="020F0502020204030204" pitchFamily="34" charset="0"/>
                <a:ea typeface="Calibri" panose="020F0502020204030204" pitchFamily="34" charset="0"/>
                <a:cs typeface="Calibri" panose="020F0502020204030204" pitchFamily="34" charset="0"/>
              </a:rPr>
              <a:t>PIR Sensor </a:t>
            </a: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 motion detection</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850"/>
              </a:lnSpc>
              <a:buSzPct val="100000"/>
              <a:buChar char="•"/>
            </a:pPr>
            <a:r>
              <a:rPr lang="en-US" b="1" dirty="0">
                <a:solidFill>
                  <a:srgbClr val="4A4A45"/>
                </a:solidFill>
                <a:latin typeface="Calibri" panose="020F0502020204030204" pitchFamily="34" charset="0"/>
                <a:ea typeface="Calibri" panose="020F0502020204030204" pitchFamily="34" charset="0"/>
                <a:cs typeface="Calibri" panose="020F0502020204030204" pitchFamily="34" charset="0"/>
              </a:rPr>
              <a:t>Ultrasonic Sensor</a:t>
            </a: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 — distance validation to reduce false alarms</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850"/>
              </a:lnSpc>
              <a:buSzPct val="100000"/>
              <a:buChar char="•"/>
            </a:pPr>
            <a:r>
              <a:rPr lang="en-US" b="1" dirty="0">
                <a:solidFill>
                  <a:srgbClr val="4A4A45"/>
                </a:solidFill>
                <a:latin typeface="Calibri" panose="020F0502020204030204" pitchFamily="34" charset="0"/>
                <a:ea typeface="Calibri" panose="020F0502020204030204" pitchFamily="34" charset="0"/>
                <a:cs typeface="Calibri" panose="020F0502020204030204" pitchFamily="34" charset="0"/>
              </a:rPr>
              <a:t>Servo Motor</a:t>
            </a: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 — rotates PIR for 270° scanning</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850"/>
              </a:lnSpc>
              <a:buSzPct val="100000"/>
              <a:buChar char="•"/>
            </a:pPr>
            <a:r>
              <a:rPr lang="en-US" b="1" dirty="0">
                <a:solidFill>
                  <a:srgbClr val="4A4A45"/>
                </a:solidFill>
                <a:latin typeface="Calibri" panose="020F0502020204030204" pitchFamily="34" charset="0"/>
                <a:ea typeface="Calibri" panose="020F0502020204030204" pitchFamily="34" charset="0"/>
                <a:cs typeface="Calibri" panose="020F0502020204030204" pitchFamily="34" charset="0"/>
              </a:rPr>
              <a:t>Buzzer &amp; Actuators</a:t>
            </a: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 — deterrent outputs</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850"/>
              </a:lnSpc>
              <a:buSzPct val="100000"/>
              <a:buChar char="•"/>
            </a:pPr>
            <a:r>
              <a:rPr lang="en-US" b="1" dirty="0">
                <a:solidFill>
                  <a:srgbClr val="4A4A45"/>
                </a:solidFill>
                <a:latin typeface="Calibri" panose="020F0502020204030204" pitchFamily="34" charset="0"/>
                <a:ea typeface="Calibri" panose="020F0502020204030204" pitchFamily="34" charset="0"/>
                <a:cs typeface="Calibri" panose="020F0502020204030204" pitchFamily="34" charset="0"/>
              </a:rPr>
              <a:t>Battery Pack</a:t>
            </a: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 — portable power supply</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 name="Text 2"/>
          <p:cNvSpPr/>
          <p:nvPr/>
        </p:nvSpPr>
        <p:spPr>
          <a:xfrm>
            <a:off x="793790" y="6504384"/>
            <a:ext cx="7556421" cy="725805"/>
          </a:xfrm>
          <a:prstGeom prst="rect">
            <a:avLst/>
          </a:prstGeom>
          <a:noFill/>
          <a:ln/>
        </p:spPr>
        <p:txBody>
          <a:bodyPr wrap="square" lIns="0" tIns="0" rIns="0" bIns="0" rtlCol="0" anchor="t"/>
          <a:lstStyle/>
          <a:p>
            <a:pPr marL="0" indent="0" algn="l">
              <a:lnSpc>
                <a:spcPts val="2850"/>
              </a:lnSpc>
              <a:buNone/>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All components are low-cost, widely available, and easy to maintain or replace.</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69846" y="642461"/>
            <a:ext cx="3871913" cy="478393"/>
          </a:xfrm>
          <a:prstGeom prst="rect">
            <a:avLst/>
          </a:prstGeom>
          <a:noFill/>
          <a:ln/>
        </p:spPr>
        <p:txBody>
          <a:bodyPr wrap="none" lIns="0" tIns="0" rIns="0" bIns="0" rtlCol="0" anchor="t"/>
          <a:lstStyle/>
          <a:p>
            <a:pPr marL="0" indent="0" algn="l">
              <a:lnSpc>
                <a:spcPts val="3750"/>
              </a:lnSpc>
              <a:buNone/>
            </a:pPr>
            <a:r>
              <a:rPr lang="en-US" sz="3600" b="1" dirty="0">
                <a:solidFill>
                  <a:srgbClr val="282824"/>
                </a:solidFill>
                <a:latin typeface="Segoe UI" panose="020B0502040204020203" pitchFamily="34" charset="0"/>
                <a:ea typeface="Lato Bold" pitchFamily="34" charset="-122"/>
                <a:cs typeface="Segoe UI" panose="020B0502040204020203" pitchFamily="34" charset="0"/>
              </a:rPr>
              <a:t>Electrical Architecture</a:t>
            </a:r>
            <a:endParaRPr lang="en-US" sz="3600" dirty="0">
              <a:latin typeface="Segoe UI" panose="020B0502040204020203" pitchFamily="34" charset="0"/>
              <a:cs typeface="Segoe UI" panose="020B0502040204020203" pitchFamily="34" charset="0"/>
            </a:endParaRPr>
          </a:p>
        </p:txBody>
      </p:sp>
      <p:sp>
        <p:nvSpPr>
          <p:cNvPr id="4" name="Text 1"/>
          <p:cNvSpPr/>
          <p:nvPr/>
        </p:nvSpPr>
        <p:spPr>
          <a:xfrm>
            <a:off x="669846" y="1363028"/>
            <a:ext cx="7804309" cy="1410891"/>
          </a:xfrm>
          <a:prstGeom prst="rect">
            <a:avLst/>
          </a:prstGeom>
          <a:noFill/>
          <a:ln/>
        </p:spPr>
        <p:txBody>
          <a:bodyPr wrap="square" lIns="0" tIns="0" rIns="0" bIns="0" rtlCol="0" anchor="t"/>
          <a:lstStyle/>
          <a:p>
            <a:pPr marL="0" indent="0" algn="l">
              <a:lnSpc>
                <a:spcPts val="2200"/>
              </a:lnSpc>
              <a:buNone/>
            </a:pPr>
            <a:r>
              <a:rPr lang="en-US" sz="1600" dirty="0">
                <a:solidFill>
                  <a:srgbClr val="4A4A45"/>
                </a:solidFill>
                <a:ea typeface="Calibri" panose="020F0502020204030204" pitchFamily="34" charset="0"/>
                <a:cs typeface="Calibri" panose="020F0502020204030204" pitchFamily="34" charset="0"/>
              </a:rPr>
              <a:t>The system uses a dual-controller architecture. The Arduino UNO handles the main control logic, including sensor processing, line-following navigation, and actuator control. The ESP32 supports IoT communication and additionally controls selected outputs such as a motor driver and buzzer for extended functionality. Separate power regulation is used for motors and logic circuits to ensure stable performance and reduce electrical noise.</a:t>
            </a:r>
            <a:endParaRPr lang="en-US" sz="1600" dirty="0">
              <a:ea typeface="Calibri" panose="020F0502020204030204" pitchFamily="34" charset="0"/>
              <a:cs typeface="Calibri" panose="020F0502020204030204" pitchFamily="34" charset="0"/>
            </a:endParaRPr>
          </a:p>
        </p:txBody>
      </p:sp>
      <p:sp>
        <p:nvSpPr>
          <p:cNvPr id="5" name="Shape 2"/>
          <p:cNvSpPr/>
          <p:nvPr/>
        </p:nvSpPr>
        <p:spPr>
          <a:xfrm>
            <a:off x="669846" y="2955488"/>
            <a:ext cx="3821430" cy="2009299"/>
          </a:xfrm>
          <a:prstGeom prst="roundRect">
            <a:avLst>
              <a:gd name="adj" fmla="val 1429"/>
            </a:avLst>
          </a:prstGeom>
          <a:solidFill>
            <a:srgbClr val="EFECE6"/>
          </a:solidFill>
          <a:ln w="22860">
            <a:solidFill>
              <a:srgbClr val="CBC5B8"/>
            </a:solidFill>
            <a:prstDash val="solid"/>
          </a:ln>
        </p:spPr>
        <p:txBody>
          <a:bodyPr/>
          <a:lstStyle/>
          <a:p>
            <a:endParaRPr lang="en-US"/>
          </a:p>
        </p:txBody>
      </p:sp>
      <p:sp>
        <p:nvSpPr>
          <p:cNvPr id="6" name="Text 3"/>
          <p:cNvSpPr/>
          <p:nvPr/>
        </p:nvSpPr>
        <p:spPr>
          <a:xfrm>
            <a:off x="884039" y="3169682"/>
            <a:ext cx="2392323" cy="298966"/>
          </a:xfrm>
          <a:prstGeom prst="rect">
            <a:avLst/>
          </a:prstGeom>
          <a:noFill/>
          <a:ln/>
        </p:spPr>
        <p:txBody>
          <a:bodyPr wrap="none" lIns="0" tIns="0" rIns="0" bIns="0" rtlCol="0" anchor="t"/>
          <a:lstStyle/>
          <a:p>
            <a:pPr marL="0" indent="0" algn="l">
              <a:lnSpc>
                <a:spcPts val="2350"/>
              </a:lnSpc>
              <a:buNone/>
            </a:pPr>
            <a:r>
              <a:rPr lang="en-US" sz="2000" b="1" dirty="0">
                <a:solidFill>
                  <a:srgbClr val="4A4A45"/>
                </a:solidFill>
                <a:latin typeface="Segoe UI" panose="020B0502040204020203" pitchFamily="34" charset="0"/>
                <a:ea typeface="Lato Bold" pitchFamily="34" charset="-122"/>
                <a:cs typeface="Segoe UI" panose="020B0502040204020203" pitchFamily="34" charset="0"/>
              </a:rPr>
              <a:t>Inputs</a:t>
            </a:r>
            <a:endParaRPr lang="en-US" sz="2000" dirty="0">
              <a:latin typeface="Segoe UI" panose="020B0502040204020203" pitchFamily="34" charset="0"/>
              <a:cs typeface="Segoe UI" panose="020B0502040204020203" pitchFamily="34" charset="0"/>
            </a:endParaRPr>
          </a:p>
        </p:txBody>
      </p:sp>
      <p:sp>
        <p:nvSpPr>
          <p:cNvPr id="7" name="Text 4"/>
          <p:cNvSpPr/>
          <p:nvPr/>
        </p:nvSpPr>
        <p:spPr>
          <a:xfrm>
            <a:off x="884039" y="3565446"/>
            <a:ext cx="3393043" cy="959406"/>
          </a:xfrm>
          <a:prstGeom prst="rect">
            <a:avLst/>
          </a:prstGeom>
          <a:noFill/>
          <a:ln/>
        </p:spPr>
        <p:txBody>
          <a:bodyPr wrap="square" lIns="0" tIns="0" rIns="0" bIns="0" rtlCol="0" anchor="t"/>
          <a:lstStyle/>
          <a:p>
            <a:pPr marL="342900" indent="-342900" algn="l">
              <a:lnSpc>
                <a:spcPts val="2200"/>
              </a:lnSpc>
              <a:buSzPct val="100000"/>
              <a:buChar char="•"/>
            </a:pPr>
            <a:r>
              <a:rPr lang="en-US" sz="1600" dirty="0">
                <a:solidFill>
                  <a:srgbClr val="4A4A45"/>
                </a:solidFill>
                <a:ea typeface="Lato" pitchFamily="34" charset="-122"/>
                <a:cs typeface="Lato" pitchFamily="34" charset="-120"/>
              </a:rPr>
              <a:t>Line-following sensors</a:t>
            </a:r>
            <a:endParaRPr lang="en-US" sz="1600" dirty="0"/>
          </a:p>
          <a:p>
            <a:pPr marL="342900" indent="-342900" algn="l">
              <a:lnSpc>
                <a:spcPts val="2200"/>
              </a:lnSpc>
              <a:buSzPct val="100000"/>
              <a:buChar char="•"/>
            </a:pPr>
            <a:r>
              <a:rPr lang="en-US" sz="1600" dirty="0">
                <a:solidFill>
                  <a:srgbClr val="4A4A45"/>
                </a:solidFill>
                <a:ea typeface="Lato" pitchFamily="34" charset="-122"/>
                <a:cs typeface="Lato" pitchFamily="34" charset="-120"/>
              </a:rPr>
              <a:t>PIR motion sensor</a:t>
            </a:r>
            <a:endParaRPr lang="en-US" sz="1600" dirty="0"/>
          </a:p>
          <a:p>
            <a:pPr marL="342900" indent="-342900" algn="l">
              <a:lnSpc>
                <a:spcPts val="2200"/>
              </a:lnSpc>
              <a:buSzPct val="100000"/>
              <a:buChar char="•"/>
            </a:pPr>
            <a:r>
              <a:rPr lang="en-US" sz="1600" dirty="0">
                <a:solidFill>
                  <a:srgbClr val="4A4A45"/>
                </a:solidFill>
                <a:ea typeface="Lato" pitchFamily="34" charset="-122"/>
                <a:cs typeface="Lato" pitchFamily="34" charset="-120"/>
              </a:rPr>
              <a:t>Ultrasonic sensor</a:t>
            </a:r>
            <a:endParaRPr lang="en-US" sz="1600" dirty="0"/>
          </a:p>
        </p:txBody>
      </p:sp>
      <p:sp>
        <p:nvSpPr>
          <p:cNvPr id="8" name="Shape 5"/>
          <p:cNvSpPr/>
          <p:nvPr/>
        </p:nvSpPr>
        <p:spPr>
          <a:xfrm>
            <a:off x="4652724" y="2955488"/>
            <a:ext cx="3821430" cy="2009299"/>
          </a:xfrm>
          <a:prstGeom prst="roundRect">
            <a:avLst>
              <a:gd name="adj" fmla="val 1429"/>
            </a:avLst>
          </a:prstGeom>
          <a:solidFill>
            <a:srgbClr val="EFECE6"/>
          </a:solidFill>
          <a:ln w="22860">
            <a:solidFill>
              <a:srgbClr val="CBC5B8"/>
            </a:solidFill>
            <a:prstDash val="solid"/>
          </a:ln>
        </p:spPr>
        <p:txBody>
          <a:bodyPr/>
          <a:lstStyle/>
          <a:p>
            <a:endParaRPr lang="en-US"/>
          </a:p>
        </p:txBody>
      </p:sp>
      <p:sp>
        <p:nvSpPr>
          <p:cNvPr id="9" name="Text 6"/>
          <p:cNvSpPr/>
          <p:nvPr/>
        </p:nvSpPr>
        <p:spPr>
          <a:xfrm>
            <a:off x="4866918" y="3169682"/>
            <a:ext cx="2392323" cy="298966"/>
          </a:xfrm>
          <a:prstGeom prst="rect">
            <a:avLst/>
          </a:prstGeom>
          <a:noFill/>
          <a:ln/>
        </p:spPr>
        <p:txBody>
          <a:bodyPr wrap="none" lIns="0" tIns="0" rIns="0" bIns="0" rtlCol="0" anchor="t"/>
          <a:lstStyle/>
          <a:p>
            <a:pPr marL="0" indent="0" algn="l">
              <a:lnSpc>
                <a:spcPts val="2350"/>
              </a:lnSpc>
              <a:buNone/>
            </a:pPr>
            <a:r>
              <a:rPr lang="en-US" sz="2000" b="1" dirty="0">
                <a:solidFill>
                  <a:srgbClr val="4A4A45"/>
                </a:solidFill>
                <a:latin typeface="Segoe UI" panose="020B0502040204020203" pitchFamily="34" charset="0"/>
                <a:ea typeface="Lato Bold" pitchFamily="34" charset="-122"/>
                <a:cs typeface="Segoe UI" panose="020B0502040204020203" pitchFamily="34" charset="0"/>
              </a:rPr>
              <a:t>Processing</a:t>
            </a:r>
            <a:endParaRPr lang="en-US" sz="1850" dirty="0">
              <a:latin typeface="Segoe UI" panose="020B0502040204020203" pitchFamily="34" charset="0"/>
              <a:cs typeface="Segoe UI" panose="020B0502040204020203" pitchFamily="34" charset="0"/>
            </a:endParaRPr>
          </a:p>
        </p:txBody>
      </p:sp>
      <p:sp>
        <p:nvSpPr>
          <p:cNvPr id="10" name="Text 7"/>
          <p:cNvSpPr/>
          <p:nvPr/>
        </p:nvSpPr>
        <p:spPr>
          <a:xfrm>
            <a:off x="4866918" y="3565446"/>
            <a:ext cx="3393043" cy="1185148"/>
          </a:xfrm>
          <a:prstGeom prst="rect">
            <a:avLst/>
          </a:prstGeom>
          <a:noFill/>
          <a:ln/>
        </p:spPr>
        <p:txBody>
          <a:bodyPr wrap="square" lIns="0" tIns="0" rIns="0" bIns="0" rtlCol="0" anchor="t"/>
          <a:lstStyle/>
          <a:p>
            <a:pPr marL="342900" indent="-342900" algn="l">
              <a:lnSpc>
                <a:spcPts val="2200"/>
              </a:lnSpc>
              <a:buSzPct val="100000"/>
              <a:buChar char="•"/>
            </a:pPr>
            <a:r>
              <a:rPr lang="en-US" sz="1600" dirty="0">
                <a:solidFill>
                  <a:srgbClr val="4A4A45"/>
                </a:solidFill>
                <a:ea typeface="Lato" pitchFamily="34" charset="-122"/>
                <a:cs typeface="Lato" pitchFamily="34" charset="-120"/>
              </a:rPr>
              <a:t>Arduino UNO — core logic and navigation control</a:t>
            </a:r>
            <a:endParaRPr lang="en-US" sz="1600" dirty="0"/>
          </a:p>
          <a:p>
            <a:pPr marL="342900" indent="-342900" algn="l">
              <a:lnSpc>
                <a:spcPts val="2200"/>
              </a:lnSpc>
              <a:buSzPct val="100000"/>
              <a:buChar char="•"/>
            </a:pPr>
            <a:r>
              <a:rPr lang="en-US" sz="1600" dirty="0">
                <a:solidFill>
                  <a:srgbClr val="4A4A45"/>
                </a:solidFill>
                <a:ea typeface="Lato" pitchFamily="34" charset="-122"/>
                <a:cs typeface="Lato" pitchFamily="34" charset="-120"/>
              </a:rPr>
              <a:t>ESP32 Dev Board — IoT communication and auxiliary control</a:t>
            </a:r>
            <a:endParaRPr lang="en-US" sz="1600" dirty="0"/>
          </a:p>
        </p:txBody>
      </p:sp>
      <p:sp>
        <p:nvSpPr>
          <p:cNvPr id="11" name="Shape 8"/>
          <p:cNvSpPr/>
          <p:nvPr/>
        </p:nvSpPr>
        <p:spPr>
          <a:xfrm>
            <a:off x="669846" y="5126236"/>
            <a:ext cx="7804309" cy="2460784"/>
          </a:xfrm>
          <a:prstGeom prst="roundRect">
            <a:avLst>
              <a:gd name="adj" fmla="val 1167"/>
            </a:avLst>
          </a:prstGeom>
          <a:solidFill>
            <a:srgbClr val="EFECE6"/>
          </a:solidFill>
          <a:ln w="22860">
            <a:solidFill>
              <a:srgbClr val="CBC5B8"/>
            </a:solidFill>
            <a:prstDash val="solid"/>
          </a:ln>
        </p:spPr>
        <p:txBody>
          <a:bodyPr/>
          <a:lstStyle/>
          <a:p>
            <a:endParaRPr lang="en-US"/>
          </a:p>
        </p:txBody>
      </p:sp>
      <p:sp>
        <p:nvSpPr>
          <p:cNvPr id="12" name="Text 9"/>
          <p:cNvSpPr/>
          <p:nvPr/>
        </p:nvSpPr>
        <p:spPr>
          <a:xfrm>
            <a:off x="884039" y="5340429"/>
            <a:ext cx="2392323" cy="298966"/>
          </a:xfrm>
          <a:prstGeom prst="rect">
            <a:avLst/>
          </a:prstGeom>
          <a:noFill/>
          <a:ln/>
        </p:spPr>
        <p:txBody>
          <a:bodyPr wrap="none" lIns="0" tIns="0" rIns="0" bIns="0" rtlCol="0" anchor="t"/>
          <a:lstStyle/>
          <a:p>
            <a:pPr marL="0" indent="0" algn="l">
              <a:lnSpc>
                <a:spcPts val="2350"/>
              </a:lnSpc>
              <a:buNone/>
            </a:pPr>
            <a:r>
              <a:rPr lang="en-US" sz="2000" b="1" dirty="0">
                <a:solidFill>
                  <a:srgbClr val="4A4A45"/>
                </a:solidFill>
                <a:latin typeface="Segoe UI" panose="020B0502040204020203" pitchFamily="34" charset="0"/>
                <a:ea typeface="Lato Bold" pitchFamily="34" charset="-122"/>
                <a:cs typeface="Segoe UI" panose="020B0502040204020203" pitchFamily="34" charset="0"/>
              </a:rPr>
              <a:t>Outputs</a:t>
            </a:r>
            <a:endParaRPr lang="en-US" sz="1850" dirty="0">
              <a:latin typeface="Segoe UI" panose="020B0502040204020203" pitchFamily="34" charset="0"/>
              <a:cs typeface="Segoe UI" panose="020B0502040204020203" pitchFamily="34" charset="0"/>
            </a:endParaRPr>
          </a:p>
        </p:txBody>
      </p:sp>
      <p:sp>
        <p:nvSpPr>
          <p:cNvPr id="13" name="Text 10"/>
          <p:cNvSpPr/>
          <p:nvPr/>
        </p:nvSpPr>
        <p:spPr>
          <a:xfrm>
            <a:off x="884039" y="5736193"/>
            <a:ext cx="7375922" cy="1636633"/>
          </a:xfrm>
          <a:prstGeom prst="rect">
            <a:avLst/>
          </a:prstGeom>
          <a:noFill/>
          <a:ln/>
        </p:spPr>
        <p:txBody>
          <a:bodyPr wrap="square" lIns="0" tIns="0" rIns="0" bIns="0" rtlCol="0" anchor="t"/>
          <a:lstStyle/>
          <a:p>
            <a:pPr marL="342900" indent="-342900" algn="l">
              <a:lnSpc>
                <a:spcPts val="2200"/>
              </a:lnSpc>
              <a:buSzPct val="100000"/>
              <a:buChar char="•"/>
            </a:pPr>
            <a:r>
              <a:rPr lang="en-US" sz="1600" dirty="0">
                <a:solidFill>
                  <a:srgbClr val="4A4A45"/>
                </a:solidFill>
                <a:ea typeface="Lato" pitchFamily="34" charset="-122"/>
                <a:cs typeface="Lato" pitchFamily="34" charset="-120"/>
              </a:rPr>
              <a:t>DC motors via L298N (Arduino-controlled navigation)</a:t>
            </a:r>
            <a:endParaRPr lang="en-US" sz="1600" dirty="0"/>
          </a:p>
          <a:p>
            <a:pPr marL="342900" indent="-342900" algn="l">
              <a:lnSpc>
                <a:spcPts val="2200"/>
              </a:lnSpc>
              <a:buSzPct val="100000"/>
              <a:buChar char="•"/>
            </a:pPr>
            <a:r>
              <a:rPr lang="en-US" sz="1600" dirty="0">
                <a:solidFill>
                  <a:srgbClr val="4A4A45"/>
                </a:solidFill>
                <a:ea typeface="Lato" pitchFamily="34" charset="-122"/>
                <a:cs typeface="Lato" pitchFamily="34" charset="-120"/>
              </a:rPr>
              <a:t>Additional motor driver (ESP32-controlled actuator system)</a:t>
            </a:r>
            <a:endParaRPr lang="en-US" sz="1600" dirty="0"/>
          </a:p>
          <a:p>
            <a:pPr marL="342900" indent="-342900" algn="l">
              <a:lnSpc>
                <a:spcPts val="2200"/>
              </a:lnSpc>
              <a:buSzPct val="100000"/>
              <a:buChar char="•"/>
            </a:pPr>
            <a:r>
              <a:rPr lang="en-US" sz="1600" dirty="0">
                <a:solidFill>
                  <a:srgbClr val="4A4A45"/>
                </a:solidFill>
                <a:ea typeface="Lato" pitchFamily="34" charset="-122"/>
                <a:cs typeface="Lato" pitchFamily="34" charset="-120"/>
              </a:rPr>
              <a:t>Servo motor (sensor scanning)</a:t>
            </a:r>
            <a:endParaRPr lang="en-US" sz="1600" dirty="0"/>
          </a:p>
          <a:p>
            <a:pPr marL="342900" indent="-342900" algn="l">
              <a:lnSpc>
                <a:spcPts val="2200"/>
              </a:lnSpc>
              <a:buSzPct val="100000"/>
              <a:buChar char="•"/>
            </a:pPr>
            <a:r>
              <a:rPr lang="en-US" sz="1600" dirty="0">
                <a:solidFill>
                  <a:srgbClr val="4A4A45"/>
                </a:solidFill>
                <a:ea typeface="Lato" pitchFamily="34" charset="-122"/>
                <a:cs typeface="Lato" pitchFamily="34" charset="-120"/>
              </a:rPr>
              <a:t>Buzzer (ESP32-controlled alert system)</a:t>
            </a:r>
            <a:endParaRPr lang="en-US" sz="1600" dirty="0"/>
          </a:p>
          <a:p>
            <a:pPr marL="342900" indent="-342900" algn="l">
              <a:lnSpc>
                <a:spcPts val="2200"/>
              </a:lnSpc>
              <a:buSzPct val="100000"/>
              <a:buChar char="•"/>
            </a:pPr>
            <a:r>
              <a:rPr lang="en-US" sz="1600" dirty="0">
                <a:solidFill>
                  <a:srgbClr val="4A4A45"/>
                </a:solidFill>
                <a:ea typeface="Lato" pitchFamily="34" charset="-122"/>
                <a:cs typeface="Lato" pitchFamily="34" charset="-120"/>
              </a:rPr>
              <a:t>Actuators for deterrence</a:t>
            </a:r>
            <a:endParaRPr lang="en-US" sz="1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93790" y="1962150"/>
            <a:ext cx="7604284" cy="3738086"/>
          </a:xfrm>
          <a:prstGeom prst="rect">
            <a:avLst/>
          </a:prstGeom>
        </p:spPr>
      </p:pic>
      <p:sp>
        <p:nvSpPr>
          <p:cNvPr id="3" name="Text 0"/>
          <p:cNvSpPr/>
          <p:nvPr/>
        </p:nvSpPr>
        <p:spPr>
          <a:xfrm>
            <a:off x="4514763" y="2290857"/>
            <a:ext cx="1739010" cy="217376"/>
          </a:xfrm>
          <a:prstGeom prst="rect">
            <a:avLst/>
          </a:prstGeom>
          <a:noFill/>
          <a:ln/>
        </p:spPr>
        <p:txBody>
          <a:bodyPr wrap="none" lIns="0" tIns="0" rIns="0" bIns="0" rtlCol="0" anchor="t"/>
          <a:lstStyle/>
          <a:p>
            <a:pPr marL="0" indent="0" algn="l">
              <a:lnSpc>
                <a:spcPts val="1700"/>
              </a:lnSpc>
              <a:buNone/>
            </a:pPr>
            <a:r>
              <a:rPr lang="en-US" sz="1400" b="1" dirty="0">
                <a:solidFill>
                  <a:srgbClr val="4A4A45"/>
                </a:solidFill>
                <a:latin typeface="Segoe UI" panose="020B0502040204020203" pitchFamily="34" charset="0"/>
                <a:ea typeface="Lato Bold" pitchFamily="34" charset="-122"/>
                <a:cs typeface="Segoe UI" panose="020B0502040204020203" pitchFamily="34" charset="0"/>
              </a:rPr>
              <a:t>Motion Detected?</a:t>
            </a:r>
            <a:endParaRPr lang="en-US" sz="1400" dirty="0">
              <a:latin typeface="Segoe UI" panose="020B0502040204020203" pitchFamily="34" charset="0"/>
              <a:cs typeface="Segoe UI" panose="020B0502040204020203" pitchFamily="34" charset="0"/>
            </a:endParaRPr>
          </a:p>
        </p:txBody>
      </p:sp>
      <p:sp>
        <p:nvSpPr>
          <p:cNvPr id="4" name="Text 1"/>
          <p:cNvSpPr/>
          <p:nvPr/>
        </p:nvSpPr>
        <p:spPr>
          <a:xfrm>
            <a:off x="4514763" y="2570065"/>
            <a:ext cx="3516663" cy="173901"/>
          </a:xfrm>
          <a:prstGeom prst="rect">
            <a:avLst/>
          </a:prstGeom>
          <a:noFill/>
          <a:ln/>
        </p:spPr>
        <p:txBody>
          <a:bodyPr wrap="none" lIns="0" tIns="0" rIns="0" bIns="0" rtlCol="0" anchor="t"/>
          <a:lstStyle/>
          <a:p>
            <a:pPr marL="0" indent="0" algn="l">
              <a:lnSpc>
                <a:spcPts val="1350"/>
              </a:lnSpc>
              <a:buNone/>
            </a:pPr>
            <a:r>
              <a:rPr lang="en-US" sz="1100" dirty="0">
                <a:solidFill>
                  <a:srgbClr val="4A4A45"/>
                </a:solidFill>
                <a:latin typeface="Calibri" panose="020F0502020204030204" pitchFamily="34" charset="0"/>
                <a:ea typeface="Calibri" panose="020F0502020204030204" pitchFamily="34" charset="0"/>
                <a:cs typeface="Calibri" panose="020F0502020204030204" pitchFamily="34" charset="0"/>
              </a:rPr>
              <a:t>Yes: Activate Alarm | No: Resume Patrol</a:t>
            </a:r>
            <a:endParaRPr lang="en-US" sz="1100" dirty="0">
              <a:latin typeface="Calibri" panose="020F0502020204030204" pitchFamily="34" charset="0"/>
              <a:ea typeface="Calibri" panose="020F0502020204030204" pitchFamily="34" charset="0"/>
              <a:cs typeface="Calibri" panose="020F0502020204030204" pitchFamily="34" charset="0"/>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32292" y="2393748"/>
            <a:ext cx="247326" cy="247326"/>
          </a:xfrm>
          <a:prstGeom prst="rect">
            <a:avLst/>
          </a:prstGeom>
        </p:spPr>
      </p:pic>
      <p:sp>
        <p:nvSpPr>
          <p:cNvPr id="6" name="Text 2"/>
          <p:cNvSpPr/>
          <p:nvPr/>
        </p:nvSpPr>
        <p:spPr>
          <a:xfrm>
            <a:off x="4514763" y="3164226"/>
            <a:ext cx="1739010" cy="217376"/>
          </a:xfrm>
          <a:prstGeom prst="rect">
            <a:avLst/>
          </a:prstGeom>
          <a:noFill/>
          <a:ln/>
        </p:spPr>
        <p:txBody>
          <a:bodyPr wrap="none" lIns="0" tIns="0" rIns="0" bIns="0" rtlCol="0" anchor="t"/>
          <a:lstStyle/>
          <a:p>
            <a:pPr marL="0" indent="0" algn="l">
              <a:lnSpc>
                <a:spcPts val="1700"/>
              </a:lnSpc>
              <a:buNone/>
            </a:pPr>
            <a:r>
              <a:rPr lang="en-US" sz="1400" b="1" dirty="0">
                <a:solidFill>
                  <a:srgbClr val="4A4A45"/>
                </a:solidFill>
                <a:latin typeface="Segoe UI" panose="020B0502040204020203" pitchFamily="34" charset="0"/>
                <a:ea typeface="Lato Bold" pitchFamily="34" charset="-122"/>
                <a:cs typeface="Segoe UI" panose="020B0502040204020203" pitchFamily="34" charset="0"/>
              </a:rPr>
              <a:t>Stop &amp; Scan</a:t>
            </a:r>
            <a:endParaRPr lang="en-US" sz="1400" dirty="0">
              <a:latin typeface="Segoe UI" panose="020B0502040204020203" pitchFamily="34" charset="0"/>
              <a:cs typeface="Segoe UI" panose="020B0502040204020203" pitchFamily="34" charset="0"/>
            </a:endParaRPr>
          </a:p>
        </p:txBody>
      </p:sp>
      <p:sp>
        <p:nvSpPr>
          <p:cNvPr id="7" name="Text 3"/>
          <p:cNvSpPr/>
          <p:nvPr/>
        </p:nvSpPr>
        <p:spPr>
          <a:xfrm>
            <a:off x="4514763" y="3443434"/>
            <a:ext cx="3516663" cy="173901"/>
          </a:xfrm>
          <a:prstGeom prst="rect">
            <a:avLst/>
          </a:prstGeom>
          <a:noFill/>
          <a:ln/>
        </p:spPr>
        <p:txBody>
          <a:bodyPr wrap="none" lIns="0" tIns="0" rIns="0" bIns="0" rtlCol="0" anchor="t"/>
          <a:lstStyle/>
          <a:p>
            <a:pPr marL="0" indent="0" algn="l">
              <a:lnSpc>
                <a:spcPts val="1350"/>
              </a:lnSpc>
              <a:buNone/>
            </a:pPr>
            <a:r>
              <a:rPr lang="en-US" sz="1100" dirty="0">
                <a:solidFill>
                  <a:srgbClr val="4A4A45"/>
                </a:solidFill>
                <a:latin typeface="Calibri" panose="020F0502020204030204" pitchFamily="34" charset="0"/>
                <a:ea typeface="Calibri" panose="020F0502020204030204" pitchFamily="34" charset="0"/>
                <a:cs typeface="Calibri" panose="020F0502020204030204" pitchFamily="34" charset="0"/>
              </a:rPr>
              <a:t>270° PIR scan</a:t>
            </a:r>
            <a:endParaRPr lang="en-US" sz="1100" dirty="0">
              <a:latin typeface="Calibri" panose="020F0502020204030204" pitchFamily="34" charset="0"/>
              <a:ea typeface="Calibri" panose="020F0502020204030204" pitchFamily="34" charset="0"/>
              <a:cs typeface="Calibri" panose="020F0502020204030204" pitchFamily="34" charset="0"/>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32292" y="3151184"/>
            <a:ext cx="247326" cy="247326"/>
          </a:xfrm>
          <a:prstGeom prst="rect">
            <a:avLst/>
          </a:prstGeom>
        </p:spPr>
      </p:pic>
      <p:sp>
        <p:nvSpPr>
          <p:cNvPr id="9" name="Text 4"/>
          <p:cNvSpPr/>
          <p:nvPr/>
        </p:nvSpPr>
        <p:spPr>
          <a:xfrm>
            <a:off x="4514763" y="4037595"/>
            <a:ext cx="1739010" cy="217376"/>
          </a:xfrm>
          <a:prstGeom prst="rect">
            <a:avLst/>
          </a:prstGeom>
          <a:noFill/>
          <a:ln/>
        </p:spPr>
        <p:txBody>
          <a:bodyPr wrap="none" lIns="0" tIns="0" rIns="0" bIns="0" rtlCol="0" anchor="t"/>
          <a:lstStyle/>
          <a:p>
            <a:pPr marL="0" indent="0" algn="l">
              <a:lnSpc>
                <a:spcPts val="1700"/>
              </a:lnSpc>
              <a:buNone/>
            </a:pPr>
            <a:r>
              <a:rPr lang="en-US" sz="1400" b="1" dirty="0">
                <a:solidFill>
                  <a:srgbClr val="4A4A45"/>
                </a:solidFill>
                <a:latin typeface="Segoe UI" panose="020B0502040204020203" pitchFamily="34" charset="0"/>
                <a:ea typeface="Lato Bold" pitchFamily="34" charset="-122"/>
                <a:cs typeface="Segoe UI" panose="020B0502040204020203" pitchFamily="34" charset="0"/>
              </a:rPr>
              <a:t>Move</a:t>
            </a:r>
            <a:endParaRPr lang="en-US" sz="1400" dirty="0">
              <a:latin typeface="Segoe UI" panose="020B0502040204020203" pitchFamily="34" charset="0"/>
              <a:cs typeface="Segoe UI" panose="020B0502040204020203" pitchFamily="34" charset="0"/>
            </a:endParaRPr>
          </a:p>
        </p:txBody>
      </p:sp>
      <p:sp>
        <p:nvSpPr>
          <p:cNvPr id="10" name="Text 5"/>
          <p:cNvSpPr/>
          <p:nvPr/>
        </p:nvSpPr>
        <p:spPr>
          <a:xfrm>
            <a:off x="4514763" y="4316803"/>
            <a:ext cx="3516663" cy="173901"/>
          </a:xfrm>
          <a:prstGeom prst="rect">
            <a:avLst/>
          </a:prstGeom>
          <a:noFill/>
          <a:ln/>
        </p:spPr>
        <p:txBody>
          <a:bodyPr wrap="none" lIns="0" tIns="0" rIns="0" bIns="0" rtlCol="0" anchor="t"/>
          <a:lstStyle/>
          <a:p>
            <a:pPr marL="0" indent="0" algn="l">
              <a:lnSpc>
                <a:spcPts val="1350"/>
              </a:lnSpc>
              <a:buNone/>
            </a:pPr>
            <a:r>
              <a:rPr lang="en-US" sz="1100" dirty="0">
                <a:solidFill>
                  <a:srgbClr val="4A4A45"/>
                </a:solidFill>
                <a:latin typeface="Calibri" panose="020F0502020204030204" pitchFamily="34" charset="0"/>
                <a:ea typeface="Calibri" panose="020F0502020204030204" pitchFamily="34" charset="0"/>
                <a:cs typeface="Calibri" panose="020F0502020204030204" pitchFamily="34" charset="0"/>
              </a:rPr>
              <a:t>Follow line to checkpoint</a:t>
            </a:r>
            <a:endParaRPr lang="en-US" sz="1100" dirty="0">
              <a:latin typeface="Calibri" panose="020F0502020204030204" pitchFamily="34" charset="0"/>
              <a:ea typeface="Calibri" panose="020F0502020204030204" pitchFamily="34" charset="0"/>
              <a:cs typeface="Calibri" panose="020F0502020204030204" pitchFamily="34" charset="0"/>
            </a:endParaRPr>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32292" y="3900890"/>
            <a:ext cx="247326" cy="247326"/>
          </a:xfrm>
          <a:prstGeom prst="rect">
            <a:avLst/>
          </a:prstGeom>
        </p:spPr>
      </p:pic>
      <p:sp>
        <p:nvSpPr>
          <p:cNvPr id="12" name="Text 6"/>
          <p:cNvSpPr/>
          <p:nvPr/>
        </p:nvSpPr>
        <p:spPr>
          <a:xfrm>
            <a:off x="4522491" y="4910964"/>
            <a:ext cx="1739010" cy="217376"/>
          </a:xfrm>
          <a:prstGeom prst="rect">
            <a:avLst/>
          </a:prstGeom>
          <a:noFill/>
          <a:ln/>
        </p:spPr>
        <p:txBody>
          <a:bodyPr wrap="none" lIns="0" tIns="0" rIns="0" bIns="0" rtlCol="0" anchor="t"/>
          <a:lstStyle/>
          <a:p>
            <a:pPr marL="0" indent="0" algn="l">
              <a:lnSpc>
                <a:spcPts val="1700"/>
              </a:lnSpc>
              <a:buNone/>
            </a:pPr>
            <a:r>
              <a:rPr lang="en-US" sz="1400" b="1" dirty="0">
                <a:solidFill>
                  <a:srgbClr val="4A4A45"/>
                </a:solidFill>
                <a:latin typeface="Segoe UI" panose="020B0502040204020203" pitchFamily="34" charset="0"/>
                <a:ea typeface="Lato Bold" pitchFamily="34" charset="-122"/>
                <a:cs typeface="Segoe UI" panose="020B0502040204020203" pitchFamily="34" charset="0"/>
              </a:rPr>
              <a:t>Start</a:t>
            </a:r>
            <a:endParaRPr lang="en-US" sz="1400" dirty="0">
              <a:latin typeface="Segoe UI" panose="020B0502040204020203" pitchFamily="34" charset="0"/>
              <a:cs typeface="Segoe UI" panose="020B0502040204020203" pitchFamily="34" charset="0"/>
            </a:endParaRPr>
          </a:p>
        </p:txBody>
      </p:sp>
      <p:sp>
        <p:nvSpPr>
          <p:cNvPr id="13" name="Text 7"/>
          <p:cNvSpPr/>
          <p:nvPr/>
        </p:nvSpPr>
        <p:spPr>
          <a:xfrm>
            <a:off x="4522491" y="5190173"/>
            <a:ext cx="3516664" cy="173901"/>
          </a:xfrm>
          <a:prstGeom prst="rect">
            <a:avLst/>
          </a:prstGeom>
          <a:noFill/>
          <a:ln/>
        </p:spPr>
        <p:txBody>
          <a:bodyPr wrap="none" lIns="0" tIns="0" rIns="0" bIns="0" rtlCol="0" anchor="t"/>
          <a:lstStyle/>
          <a:p>
            <a:pPr marL="0" indent="0" algn="l">
              <a:lnSpc>
                <a:spcPts val="1350"/>
              </a:lnSpc>
              <a:buNone/>
            </a:pPr>
            <a:r>
              <a:rPr lang="en-US" sz="1100" dirty="0">
                <a:solidFill>
                  <a:srgbClr val="4A4A45"/>
                </a:solidFill>
                <a:latin typeface="Calibri" panose="020F0502020204030204" pitchFamily="34" charset="0"/>
                <a:ea typeface="Calibri" panose="020F0502020204030204" pitchFamily="34" charset="0"/>
                <a:cs typeface="Calibri" panose="020F0502020204030204" pitchFamily="34" charset="0"/>
              </a:rPr>
              <a:t>System Initialization</a:t>
            </a:r>
            <a:endParaRPr lang="en-US" sz="1100" dirty="0">
              <a:latin typeface="Calibri" panose="020F0502020204030204" pitchFamily="34" charset="0"/>
              <a:ea typeface="Calibri" panose="020F0502020204030204" pitchFamily="34" charset="0"/>
              <a:cs typeface="Calibri" panose="020F0502020204030204" pitchFamily="34" charset="0"/>
            </a:endParaRPr>
          </a:p>
        </p:txBody>
      </p:sp>
      <p:pic>
        <p:nvPicPr>
          <p:cNvPr id="1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32292" y="4774259"/>
            <a:ext cx="247326" cy="247325"/>
          </a:xfrm>
          <a:prstGeom prst="rect">
            <a:avLst/>
          </a:prstGeom>
        </p:spPr>
      </p:pic>
      <p:sp>
        <p:nvSpPr>
          <p:cNvPr id="15" name="Text 8"/>
          <p:cNvSpPr/>
          <p:nvPr/>
        </p:nvSpPr>
        <p:spPr>
          <a:xfrm>
            <a:off x="793790" y="5955387"/>
            <a:ext cx="7604284"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6" name="Text 9"/>
          <p:cNvSpPr/>
          <p:nvPr/>
        </p:nvSpPr>
        <p:spPr>
          <a:xfrm>
            <a:off x="8959096" y="877253"/>
            <a:ext cx="4584621" cy="566976"/>
          </a:xfrm>
          <a:prstGeom prst="rect">
            <a:avLst/>
          </a:prstGeom>
          <a:noFill/>
          <a:ln/>
        </p:spPr>
        <p:txBody>
          <a:bodyPr wrap="none" lIns="0" tIns="0" rIns="0" bIns="0" rtlCol="0" anchor="t"/>
          <a:lstStyle/>
          <a:p>
            <a:pPr marL="0" indent="0" algn="l">
              <a:lnSpc>
                <a:spcPts val="4450"/>
              </a:lnSpc>
              <a:buNone/>
            </a:pPr>
            <a:r>
              <a:rPr lang="en-US" sz="3600" b="1" dirty="0">
                <a:solidFill>
                  <a:srgbClr val="282824"/>
                </a:solidFill>
                <a:latin typeface="Segoe UI" panose="020B0502040204020203" pitchFamily="34" charset="0"/>
                <a:ea typeface="Lato Bold" pitchFamily="34" charset="-122"/>
                <a:cs typeface="Segoe UI" panose="020B0502040204020203" pitchFamily="34" charset="0"/>
              </a:rPr>
              <a:t>Flowchart Explanation</a:t>
            </a:r>
            <a:endParaRPr lang="en-US" sz="3600" dirty="0">
              <a:latin typeface="Segoe UI" panose="020B0502040204020203" pitchFamily="34" charset="0"/>
              <a:cs typeface="Segoe UI" panose="020B0502040204020203" pitchFamily="34" charset="0"/>
            </a:endParaRPr>
          </a:p>
        </p:txBody>
      </p:sp>
      <p:sp>
        <p:nvSpPr>
          <p:cNvPr id="17" name="Text 10"/>
          <p:cNvSpPr/>
          <p:nvPr/>
        </p:nvSpPr>
        <p:spPr>
          <a:xfrm>
            <a:off x="8959096" y="1671042"/>
            <a:ext cx="4885015" cy="725805"/>
          </a:xfrm>
          <a:prstGeom prst="rect">
            <a:avLst/>
          </a:prstGeom>
          <a:noFill/>
          <a:ln/>
        </p:spPr>
        <p:txBody>
          <a:bodyPr wrap="square" lIns="0" tIns="0" rIns="0" bIns="0" rtlCol="0" anchor="t"/>
          <a:lstStyle/>
          <a:p>
            <a:pPr marL="0" indent="0" algn="l">
              <a:lnSpc>
                <a:spcPts val="2850"/>
              </a:lnSpc>
              <a:buNone/>
            </a:pPr>
            <a:r>
              <a:rPr lang="en-US" dirty="0">
                <a:solidFill>
                  <a:srgbClr val="4A4A45"/>
                </a:solidFill>
                <a:ea typeface="Lato" pitchFamily="34" charset="-122"/>
                <a:cs typeface="Lato" pitchFamily="34" charset="-120"/>
              </a:rPr>
              <a:t>The system follows a structured control flow for real-time operation:</a:t>
            </a:r>
            <a:endParaRPr lang="en-US" dirty="0"/>
          </a:p>
        </p:txBody>
      </p:sp>
      <p:sp>
        <p:nvSpPr>
          <p:cNvPr id="18" name="Text 11"/>
          <p:cNvSpPr/>
          <p:nvPr/>
        </p:nvSpPr>
        <p:spPr>
          <a:xfrm>
            <a:off x="8959096" y="2600920"/>
            <a:ext cx="4885015" cy="2778204"/>
          </a:xfrm>
          <a:prstGeom prst="rect">
            <a:avLst/>
          </a:prstGeom>
          <a:noFill/>
          <a:ln/>
        </p:spPr>
        <p:txBody>
          <a:bodyPr wrap="square" lIns="0" tIns="0" rIns="0" bIns="0" rtlCol="0" anchor="t"/>
          <a:lstStyle/>
          <a:p>
            <a:pPr marL="342900" indent="-342900" algn="l">
              <a:lnSpc>
                <a:spcPts val="2850"/>
              </a:lnSpc>
              <a:buSzPct val="100000"/>
              <a:buFont typeface="+mj-lt"/>
              <a:buAutoNum type="arabicPeriod"/>
            </a:pPr>
            <a:r>
              <a:rPr lang="en-US" dirty="0">
                <a:solidFill>
                  <a:srgbClr val="4A4A45"/>
                </a:solidFill>
                <a:ea typeface="Lato" pitchFamily="34" charset="-122"/>
                <a:cs typeface="Lato" pitchFamily="34" charset="-120"/>
              </a:rPr>
              <a:t>Start and follow the line until checkpoint</a:t>
            </a:r>
            <a:endParaRPr lang="en-US" dirty="0"/>
          </a:p>
          <a:p>
            <a:pPr marL="342900" indent="-342900" algn="l">
              <a:lnSpc>
                <a:spcPts val="2850"/>
              </a:lnSpc>
              <a:buSzPct val="100000"/>
              <a:buFont typeface="+mj-lt"/>
              <a:buAutoNum type="arabicPeriod" startAt="2"/>
            </a:pPr>
            <a:r>
              <a:rPr lang="en-US" dirty="0">
                <a:solidFill>
                  <a:srgbClr val="4A4A45"/>
                </a:solidFill>
                <a:ea typeface="Lato" pitchFamily="34" charset="-122"/>
                <a:cs typeface="Lato" pitchFamily="34" charset="-120"/>
              </a:rPr>
              <a:t>Stop and perform 270° scanning using a PIR sensor mounted on a servo</a:t>
            </a:r>
            <a:endParaRPr lang="en-US" dirty="0"/>
          </a:p>
          <a:p>
            <a:pPr marL="342900" indent="-342900" algn="l">
              <a:lnSpc>
                <a:spcPts val="2850"/>
              </a:lnSpc>
              <a:buSzPct val="100000"/>
              <a:buFont typeface="+mj-lt"/>
              <a:buAutoNum type="arabicPeriod" startAt="3"/>
            </a:pPr>
            <a:r>
              <a:rPr lang="en-US" dirty="0">
                <a:solidFill>
                  <a:srgbClr val="4A4A45"/>
                </a:solidFill>
                <a:ea typeface="Lato" pitchFamily="34" charset="-122"/>
                <a:cs typeface="Lato" pitchFamily="34" charset="-120"/>
              </a:rPr>
              <a:t>If motion is detected, activate the buzzer and actuator, and optionally send an IoT alert</a:t>
            </a:r>
            <a:endParaRPr lang="en-US" dirty="0"/>
          </a:p>
          <a:p>
            <a:pPr marL="342900" indent="-342900" algn="l">
              <a:lnSpc>
                <a:spcPts val="2850"/>
              </a:lnSpc>
              <a:buSzPct val="100000"/>
              <a:buFont typeface="+mj-lt"/>
              <a:buAutoNum type="arabicPeriod" startAt="4"/>
            </a:pPr>
            <a:r>
              <a:rPr lang="en-US" dirty="0">
                <a:solidFill>
                  <a:srgbClr val="4A4A45"/>
                </a:solidFill>
                <a:ea typeface="Lato" pitchFamily="34" charset="-122"/>
                <a:cs typeface="Lato" pitchFamily="34" charset="-120"/>
              </a:rPr>
              <a:t>After confirmation or timeout, the robot resumes patrolling</a:t>
            </a:r>
            <a:endParaRPr lang="en-US" dirty="0"/>
          </a:p>
        </p:txBody>
      </p:sp>
      <p:sp>
        <p:nvSpPr>
          <p:cNvPr id="19" name="Shape 12"/>
          <p:cNvSpPr/>
          <p:nvPr/>
        </p:nvSpPr>
        <p:spPr>
          <a:xfrm>
            <a:off x="8959096" y="5634276"/>
            <a:ext cx="4885015" cy="1689616"/>
          </a:xfrm>
          <a:prstGeom prst="roundRect">
            <a:avLst>
              <a:gd name="adj" fmla="val 2014"/>
            </a:avLst>
          </a:prstGeom>
          <a:solidFill>
            <a:srgbClr val="DBDBD7"/>
          </a:solidFill>
          <a:ln/>
        </p:spPr>
        <p:txBody>
          <a:bodyPr/>
          <a:lstStyle/>
          <a:p>
            <a:endParaRPr lang="en-US"/>
          </a:p>
        </p:txBody>
      </p:sp>
      <p:pic>
        <p:nvPicPr>
          <p:cNvPr id="20" name="Image 5" descr="preencoded.png"/>
          <p:cNvPicPr>
            <a:picLocks noChangeAspect="1"/>
          </p:cNvPicPr>
          <p:nvPr/>
        </p:nvPicPr>
        <p:blipFill>
          <a:blip r:embed="rId8"/>
          <a:stretch>
            <a:fillRect/>
          </a:stretch>
        </p:blipFill>
        <p:spPr>
          <a:xfrm>
            <a:off x="9185910" y="5985986"/>
            <a:ext cx="283488" cy="226814"/>
          </a:xfrm>
          <a:prstGeom prst="rect">
            <a:avLst/>
          </a:prstGeom>
        </p:spPr>
      </p:pic>
      <p:sp>
        <p:nvSpPr>
          <p:cNvPr id="21" name="Text 13"/>
          <p:cNvSpPr/>
          <p:nvPr/>
        </p:nvSpPr>
        <p:spPr>
          <a:xfrm>
            <a:off x="9696212" y="5917763"/>
            <a:ext cx="3921085" cy="1088708"/>
          </a:xfrm>
          <a:prstGeom prst="rect">
            <a:avLst/>
          </a:prstGeom>
          <a:noFill/>
          <a:ln/>
        </p:spPr>
        <p:txBody>
          <a:bodyPr wrap="square" lIns="0" tIns="0" rIns="0" bIns="0" rtlCol="0" anchor="t"/>
          <a:lstStyle/>
          <a:p>
            <a:pPr marL="0" indent="0" algn="l">
              <a:lnSpc>
                <a:spcPts val="2850"/>
              </a:lnSpc>
              <a:buNone/>
            </a:pPr>
            <a:r>
              <a:rPr lang="en-US" dirty="0">
                <a:solidFill>
                  <a:srgbClr val="000000"/>
                </a:solidFill>
                <a:ea typeface="Lato" pitchFamily="34" charset="-122"/>
                <a:cs typeface="Lato" pitchFamily="34" charset="-120"/>
              </a:rPr>
              <a:t>Safety note: Adjust PIR sensitivity and include a manual override to prevent false or unnecessary alarms.</a:t>
            </a:r>
            <a:endParaRPr lang="en-US" dirty="0"/>
          </a:p>
        </p:txBody>
      </p:sp>
      <p:sp>
        <p:nvSpPr>
          <p:cNvPr id="22" name="Rectangle 21">
            <a:extLst>
              <a:ext uri="{FF2B5EF4-FFF2-40B4-BE49-F238E27FC236}">
                <a16:creationId xmlns:a16="http://schemas.microsoft.com/office/drawing/2014/main" id="{13BCE2ED-7089-5F13-1F22-A03CA9F82E5B}"/>
              </a:ext>
            </a:extLst>
          </p:cNvPr>
          <p:cNvSpPr/>
          <p:nvPr/>
        </p:nvSpPr>
        <p:spPr>
          <a:xfrm>
            <a:off x="12745844" y="7683190"/>
            <a:ext cx="1761893" cy="434898"/>
          </a:xfrm>
          <a:prstGeom prst="rect">
            <a:avLst/>
          </a:prstGeom>
          <a:solidFill>
            <a:srgbClr val="EFECE6"/>
          </a:solidFill>
          <a:ln>
            <a:solidFill>
              <a:srgbClr val="EFEC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81407" y="661630"/>
            <a:ext cx="4871204" cy="558165"/>
          </a:xfrm>
          <a:prstGeom prst="rect">
            <a:avLst/>
          </a:prstGeom>
          <a:noFill/>
          <a:ln/>
        </p:spPr>
        <p:txBody>
          <a:bodyPr wrap="none" lIns="0" tIns="0" rIns="0" bIns="0" rtlCol="0" anchor="t"/>
          <a:lstStyle/>
          <a:p>
            <a:pPr marL="0" indent="0" algn="l">
              <a:lnSpc>
                <a:spcPts val="4350"/>
              </a:lnSpc>
              <a:buNone/>
            </a:pPr>
            <a:r>
              <a:rPr lang="en-US" sz="3600" b="1" dirty="0">
                <a:solidFill>
                  <a:srgbClr val="282824"/>
                </a:solidFill>
                <a:latin typeface="Segoe UI" panose="020B0502040204020203" pitchFamily="34" charset="0"/>
                <a:ea typeface="Lato Bold" pitchFamily="34" charset="-122"/>
                <a:cs typeface="Segoe UI" panose="020B0502040204020203" pitchFamily="34" charset="0"/>
              </a:rPr>
              <a:t>Conclusion &amp; Next Steps</a:t>
            </a:r>
            <a:endParaRPr lang="en-US" sz="3600" dirty="0">
              <a:latin typeface="Segoe UI" panose="020B0502040204020203" pitchFamily="34" charset="0"/>
              <a:cs typeface="Segoe UI" panose="020B0502040204020203" pitchFamily="34" charset="0"/>
            </a:endParaRPr>
          </a:p>
        </p:txBody>
      </p:sp>
      <p:sp>
        <p:nvSpPr>
          <p:cNvPr id="4" name="Shape 1"/>
          <p:cNvSpPr/>
          <p:nvPr/>
        </p:nvSpPr>
        <p:spPr>
          <a:xfrm>
            <a:off x="781407" y="1549479"/>
            <a:ext cx="3680698" cy="3053120"/>
          </a:xfrm>
          <a:prstGeom prst="roundRect">
            <a:avLst>
              <a:gd name="adj" fmla="val 1097"/>
            </a:avLst>
          </a:prstGeom>
          <a:solidFill>
            <a:srgbClr val="E5DFD2"/>
          </a:solidFill>
          <a:ln/>
        </p:spPr>
        <p:txBody>
          <a:bodyPr/>
          <a:lstStyle/>
          <a:p>
            <a:endParaRPr lang="en-US"/>
          </a:p>
        </p:txBody>
      </p:sp>
      <p:sp>
        <p:nvSpPr>
          <p:cNvPr id="5" name="Text 2"/>
          <p:cNvSpPr/>
          <p:nvPr/>
        </p:nvSpPr>
        <p:spPr>
          <a:xfrm>
            <a:off x="1004649" y="1772722"/>
            <a:ext cx="2790944" cy="348853"/>
          </a:xfrm>
          <a:prstGeom prst="rect">
            <a:avLst/>
          </a:prstGeom>
          <a:noFill/>
          <a:ln/>
        </p:spPr>
        <p:txBody>
          <a:bodyPr wrap="none" lIns="0" tIns="0" rIns="0" bIns="0" rtlCol="0" anchor="t"/>
          <a:lstStyle/>
          <a:p>
            <a:pPr marL="0" indent="0" algn="l">
              <a:lnSpc>
                <a:spcPts val="2700"/>
              </a:lnSpc>
              <a:buNone/>
            </a:pPr>
            <a:r>
              <a:rPr lang="en-US" sz="2400" b="1" dirty="0">
                <a:solidFill>
                  <a:srgbClr val="4A4A45"/>
                </a:solidFill>
                <a:latin typeface="Segoe UI" panose="020B0502040204020203" pitchFamily="34" charset="0"/>
                <a:ea typeface="Lato Bold" pitchFamily="34" charset="-122"/>
                <a:cs typeface="Segoe UI" panose="020B0502040204020203" pitchFamily="34" charset="0"/>
              </a:rPr>
              <a:t>Summary</a:t>
            </a:r>
            <a:endParaRPr lang="en-US" sz="2400" dirty="0">
              <a:latin typeface="Segoe UI" panose="020B0502040204020203" pitchFamily="34" charset="0"/>
              <a:cs typeface="Segoe UI" panose="020B0502040204020203" pitchFamily="34" charset="0"/>
            </a:endParaRPr>
          </a:p>
        </p:txBody>
      </p:sp>
      <p:sp>
        <p:nvSpPr>
          <p:cNvPr id="6" name="Text 3"/>
          <p:cNvSpPr/>
          <p:nvPr/>
        </p:nvSpPr>
        <p:spPr>
          <a:xfrm>
            <a:off x="1004649" y="2253377"/>
            <a:ext cx="3234214" cy="2125980"/>
          </a:xfrm>
          <a:prstGeom prst="rect">
            <a:avLst/>
          </a:prstGeom>
          <a:noFill/>
          <a:ln/>
        </p:spPr>
        <p:txBody>
          <a:bodyPr wrap="square" lIns="0" tIns="0" rIns="0" bIns="0" rtlCol="0" anchor="t"/>
          <a:lstStyle/>
          <a:p>
            <a:pPr marL="0" indent="0" algn="l">
              <a:lnSpc>
                <a:spcPts val="2750"/>
              </a:lnSpc>
              <a:buNone/>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An autonomous, low-cost robot that patrols, scans the environment, detects motion, and deters intruders—reducing crop damage and minimizing human monitoring.</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7" name="Shape 4"/>
          <p:cNvSpPr/>
          <p:nvPr/>
        </p:nvSpPr>
        <p:spPr>
          <a:xfrm>
            <a:off x="4681895" y="1549479"/>
            <a:ext cx="3680698" cy="3053120"/>
          </a:xfrm>
          <a:prstGeom prst="roundRect">
            <a:avLst>
              <a:gd name="adj" fmla="val 1097"/>
            </a:avLst>
          </a:prstGeom>
          <a:solidFill>
            <a:srgbClr val="E5DFD2"/>
          </a:solidFill>
          <a:ln/>
        </p:spPr>
        <p:txBody>
          <a:bodyPr/>
          <a:lstStyle/>
          <a:p>
            <a:endParaRPr lang="en-US"/>
          </a:p>
        </p:txBody>
      </p:sp>
      <p:sp>
        <p:nvSpPr>
          <p:cNvPr id="8" name="Text 5"/>
          <p:cNvSpPr/>
          <p:nvPr/>
        </p:nvSpPr>
        <p:spPr>
          <a:xfrm>
            <a:off x="4905137" y="1772722"/>
            <a:ext cx="2790944" cy="348853"/>
          </a:xfrm>
          <a:prstGeom prst="rect">
            <a:avLst/>
          </a:prstGeom>
          <a:noFill/>
          <a:ln/>
        </p:spPr>
        <p:txBody>
          <a:bodyPr wrap="none" lIns="0" tIns="0" rIns="0" bIns="0" rtlCol="0" anchor="t"/>
          <a:lstStyle/>
          <a:p>
            <a:pPr marL="0" indent="0" algn="l">
              <a:lnSpc>
                <a:spcPts val="2700"/>
              </a:lnSpc>
              <a:buNone/>
            </a:pPr>
            <a:r>
              <a:rPr lang="en-US" sz="2400" b="1" dirty="0">
                <a:solidFill>
                  <a:srgbClr val="4A4A45"/>
                </a:solidFill>
                <a:latin typeface="Segoe UI" panose="020B0502040204020203" pitchFamily="34" charset="0"/>
                <a:ea typeface="Lato Bold" pitchFamily="34" charset="-122"/>
                <a:cs typeface="Segoe UI" panose="020B0502040204020203" pitchFamily="34" charset="0"/>
              </a:rPr>
              <a:t>Scalability</a:t>
            </a:r>
            <a:endParaRPr lang="en-US" sz="2400" dirty="0">
              <a:latin typeface="Segoe UI" panose="020B0502040204020203" pitchFamily="34" charset="0"/>
              <a:cs typeface="Segoe UI" panose="020B0502040204020203" pitchFamily="34" charset="0"/>
            </a:endParaRPr>
          </a:p>
        </p:txBody>
      </p:sp>
      <p:sp>
        <p:nvSpPr>
          <p:cNvPr id="9" name="Text 6"/>
          <p:cNvSpPr/>
          <p:nvPr/>
        </p:nvSpPr>
        <p:spPr>
          <a:xfrm>
            <a:off x="4905137" y="2253377"/>
            <a:ext cx="3234214" cy="2125980"/>
          </a:xfrm>
          <a:prstGeom prst="rect">
            <a:avLst/>
          </a:prstGeom>
          <a:noFill/>
          <a:ln/>
        </p:spPr>
        <p:txBody>
          <a:bodyPr wrap="square" lIns="0" tIns="0" rIns="0" bIns="0" rtlCol="0" anchor="t"/>
          <a:lstStyle/>
          <a:p>
            <a:pPr marL="0" indent="0" algn="l">
              <a:lnSpc>
                <a:spcPts val="2750"/>
              </a:lnSpc>
              <a:buNone/>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The modular design allows easy integration of additional sensors and networking features, enabling expansion to larger farms and multi-robot coordination.</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0" name="Shape 7"/>
          <p:cNvSpPr/>
          <p:nvPr/>
        </p:nvSpPr>
        <p:spPr>
          <a:xfrm>
            <a:off x="781407" y="4822388"/>
            <a:ext cx="7581186" cy="2143958"/>
          </a:xfrm>
          <a:prstGeom prst="roundRect">
            <a:avLst>
              <a:gd name="adj" fmla="val 1562"/>
            </a:avLst>
          </a:prstGeom>
          <a:solidFill>
            <a:srgbClr val="E5DFD2"/>
          </a:solidFill>
          <a:ln/>
        </p:spPr>
        <p:txBody>
          <a:bodyPr/>
          <a:lstStyle/>
          <a:p>
            <a:endParaRPr lang="en-US"/>
          </a:p>
        </p:txBody>
      </p:sp>
      <p:sp>
        <p:nvSpPr>
          <p:cNvPr id="11" name="Text 8"/>
          <p:cNvSpPr/>
          <p:nvPr/>
        </p:nvSpPr>
        <p:spPr>
          <a:xfrm>
            <a:off x="1004649" y="5045631"/>
            <a:ext cx="2790944" cy="348853"/>
          </a:xfrm>
          <a:prstGeom prst="rect">
            <a:avLst/>
          </a:prstGeom>
          <a:noFill/>
          <a:ln/>
        </p:spPr>
        <p:txBody>
          <a:bodyPr wrap="none" lIns="0" tIns="0" rIns="0" bIns="0" rtlCol="0" anchor="t"/>
          <a:lstStyle/>
          <a:p>
            <a:pPr marL="0" indent="0" algn="l">
              <a:lnSpc>
                <a:spcPts val="2700"/>
              </a:lnSpc>
              <a:buNone/>
            </a:pPr>
            <a:r>
              <a:rPr lang="en-US" sz="2400" b="1" dirty="0">
                <a:solidFill>
                  <a:srgbClr val="4A4A45"/>
                </a:solidFill>
                <a:latin typeface="Segoe UI" panose="020B0502040204020203" pitchFamily="34" charset="0"/>
                <a:ea typeface="Lato Bold" pitchFamily="34" charset="-122"/>
                <a:cs typeface="Segoe UI" panose="020B0502040204020203" pitchFamily="34" charset="0"/>
              </a:rPr>
              <a:t>Immediate next steps</a:t>
            </a:r>
            <a:endParaRPr lang="en-US" sz="2400" dirty="0">
              <a:latin typeface="Segoe UI" panose="020B0502040204020203" pitchFamily="34" charset="0"/>
              <a:cs typeface="Segoe UI" panose="020B0502040204020203" pitchFamily="34" charset="0"/>
            </a:endParaRPr>
          </a:p>
        </p:txBody>
      </p:sp>
      <p:sp>
        <p:nvSpPr>
          <p:cNvPr id="12" name="Text 9"/>
          <p:cNvSpPr/>
          <p:nvPr/>
        </p:nvSpPr>
        <p:spPr>
          <a:xfrm>
            <a:off x="1004649" y="5526286"/>
            <a:ext cx="7134701" cy="1216819"/>
          </a:xfrm>
          <a:prstGeom prst="rect">
            <a:avLst/>
          </a:prstGeom>
          <a:noFill/>
          <a:ln/>
        </p:spPr>
        <p:txBody>
          <a:bodyPr wrap="square" lIns="0" tIns="0" rIns="0" bIns="0" rtlCol="0" anchor="t"/>
          <a:lstStyle/>
          <a:p>
            <a:pPr marL="342900" indent="-342900" algn="l">
              <a:lnSpc>
                <a:spcPts val="2750"/>
              </a:lnSpc>
              <a:buSzPct val="100000"/>
              <a:buChar char="•"/>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Conduct prototype testing in real garden environments</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750"/>
              </a:lnSpc>
              <a:buSzPct val="100000"/>
              <a:buChar char="•"/>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Fine-tune sensor thresholds and checkpoint timing</a:t>
            </a:r>
            <a:endParaRPr lang="en-US"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750"/>
              </a:lnSpc>
              <a:buSzPct val="100000"/>
              <a:buChar char="•"/>
            </a:pPr>
            <a:r>
              <a:rPr lang="en-US" dirty="0">
                <a:solidFill>
                  <a:srgbClr val="4A4A45"/>
                </a:solidFill>
                <a:latin typeface="Calibri" panose="020F0502020204030204" pitchFamily="34" charset="0"/>
                <a:ea typeface="Calibri" panose="020F0502020204030204" pitchFamily="34" charset="0"/>
                <a:cs typeface="Calibri" panose="020F0502020204030204" pitchFamily="34" charset="0"/>
              </a:rPr>
              <a:t>Integrate ESP32 Dev Board notifications and data logging</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 10"/>
          <p:cNvSpPr/>
          <p:nvPr/>
        </p:nvSpPr>
        <p:spPr>
          <a:xfrm>
            <a:off x="781407" y="7213521"/>
            <a:ext cx="7581186" cy="354330"/>
          </a:xfrm>
          <a:prstGeom prst="rect">
            <a:avLst/>
          </a:prstGeom>
          <a:noFill/>
          <a:ln/>
        </p:spPr>
        <p:txBody>
          <a:bodyPr wrap="none" lIns="0" tIns="0" rIns="0" bIns="0" rtlCol="0" anchor="t"/>
          <a:lstStyle/>
          <a:p>
            <a:pPr>
              <a:lnSpc>
                <a:spcPts val="2750"/>
              </a:lnSpc>
            </a:pPr>
            <a:r>
              <a:rPr lang="en-US" sz="2000" b="1" dirty="0">
                <a:solidFill>
                  <a:schemeClr val="accent3">
                    <a:lumMod val="50000"/>
                  </a:schemeClr>
                </a:solidFill>
              </a:rPr>
              <a:t>Ready</a:t>
            </a:r>
            <a:r>
              <a:rPr lang="en-US" sz="2000" b="1" dirty="0"/>
              <a:t> </a:t>
            </a:r>
            <a:r>
              <a:rPr lang="en-US" sz="2000" b="1" dirty="0">
                <a:solidFill>
                  <a:schemeClr val="accent3">
                    <a:lumMod val="50000"/>
                  </a:schemeClr>
                </a:solidFill>
              </a:rPr>
              <a:t>for Live Demonstration &amp; Questions</a:t>
            </a:r>
            <a:endParaRPr lang="en-US" sz="2000" b="1" dirty="0">
              <a:solidFill>
                <a:schemeClr val="accent3">
                  <a:lumMod val="50000"/>
                </a:schemeClr>
              </a:solidFill>
              <a:cs typeface="Segoe UI" panose="020B0502040204020203"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2046803" y="648772"/>
            <a:ext cx="5050393" cy="631269"/>
          </a:xfrm>
          <a:prstGeom prst="rect">
            <a:avLst/>
          </a:prstGeom>
          <a:noFill/>
          <a:ln/>
        </p:spPr>
        <p:txBody>
          <a:bodyPr wrap="none" lIns="0" tIns="0" rIns="0" bIns="0" rtlCol="0" anchor="t"/>
          <a:lstStyle/>
          <a:p>
            <a:pPr marL="0" indent="0" algn="ctr">
              <a:lnSpc>
                <a:spcPts val="4950"/>
              </a:lnSpc>
              <a:buNone/>
            </a:pPr>
            <a:r>
              <a:rPr lang="en-US" sz="4000" b="1" dirty="0">
                <a:solidFill>
                  <a:srgbClr val="282824"/>
                </a:solidFill>
                <a:latin typeface="Segoe UI" panose="020B0502040204020203" pitchFamily="34" charset="0"/>
                <a:ea typeface="Lato Bold" pitchFamily="34" charset="-122"/>
                <a:cs typeface="Segoe UI" panose="020B0502040204020203" pitchFamily="34" charset="0"/>
              </a:rPr>
              <a:t>Live Demonstration</a:t>
            </a:r>
            <a:endParaRPr lang="en-US" sz="4000" dirty="0">
              <a:latin typeface="Segoe UI" panose="020B0502040204020203" pitchFamily="34" charset="0"/>
              <a:cs typeface="Segoe UI" panose="020B0502040204020203" pitchFamily="34" charset="0"/>
            </a:endParaRPr>
          </a:p>
        </p:txBody>
      </p:sp>
      <p:sp>
        <p:nvSpPr>
          <p:cNvPr id="4" name="Text 1"/>
          <p:cNvSpPr/>
          <p:nvPr/>
        </p:nvSpPr>
        <p:spPr>
          <a:xfrm>
            <a:off x="706993" y="1549837"/>
            <a:ext cx="7730014" cy="611029"/>
          </a:xfrm>
          <a:prstGeom prst="rect">
            <a:avLst/>
          </a:prstGeom>
          <a:noFill/>
          <a:ln/>
        </p:spPr>
        <p:txBody>
          <a:bodyPr wrap="square" lIns="0" tIns="0" rIns="0" bIns="0" rtlCol="0" anchor="t"/>
          <a:lstStyle/>
          <a:p>
            <a:pPr marL="0" indent="0" algn="ctr">
              <a:lnSpc>
                <a:spcPts val="2400"/>
              </a:lnSpc>
              <a:buNone/>
            </a:pPr>
            <a:r>
              <a:rPr lang="en-US" sz="1600" dirty="0">
                <a:solidFill>
                  <a:srgbClr val="4A4A45"/>
                </a:solidFill>
                <a:latin typeface="Calibri" panose="020F0502020204030204" pitchFamily="34" charset="0"/>
                <a:ea typeface="Calibri" panose="020F0502020204030204" pitchFamily="34" charset="0"/>
                <a:cs typeface="Calibri" panose="020F0502020204030204" pitchFamily="34" charset="0"/>
              </a:rPr>
              <a:t>Witness the Autonomous Scarecrow Robot in action as we showcase its capabilities in real-time.</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6993" y="2363272"/>
            <a:ext cx="504944" cy="504944"/>
          </a:xfrm>
          <a:prstGeom prst="rect">
            <a:avLst/>
          </a:prstGeom>
        </p:spPr>
      </p:pic>
      <p:sp>
        <p:nvSpPr>
          <p:cNvPr id="6" name="Text 2"/>
          <p:cNvSpPr/>
          <p:nvPr/>
        </p:nvSpPr>
        <p:spPr>
          <a:xfrm>
            <a:off x="1436727" y="2363272"/>
            <a:ext cx="2525197" cy="315635"/>
          </a:xfrm>
          <a:prstGeom prst="rect">
            <a:avLst/>
          </a:prstGeom>
          <a:noFill/>
          <a:ln/>
        </p:spPr>
        <p:txBody>
          <a:bodyPr wrap="none" lIns="0" tIns="0" rIns="0" bIns="0" rtlCol="0" anchor="t"/>
          <a:lstStyle/>
          <a:p>
            <a:pPr marL="0" indent="0" algn="l">
              <a:lnSpc>
                <a:spcPts val="2450"/>
              </a:lnSpc>
              <a:buNone/>
            </a:pPr>
            <a:r>
              <a:rPr lang="en-US" sz="2000" b="1" dirty="0">
                <a:solidFill>
                  <a:srgbClr val="4A4A45"/>
                </a:solidFill>
                <a:latin typeface="Segoe UI" panose="020B0502040204020203" pitchFamily="34" charset="0"/>
                <a:ea typeface="Lato Bold" pitchFamily="34" charset="-122"/>
                <a:cs typeface="Segoe UI" panose="020B0502040204020203" pitchFamily="34" charset="0"/>
              </a:rPr>
              <a:t>Path Navigation</a:t>
            </a:r>
            <a:endParaRPr lang="en-US" sz="2000" dirty="0">
              <a:latin typeface="Segoe UI" panose="020B0502040204020203" pitchFamily="34" charset="0"/>
              <a:cs typeface="Segoe UI" panose="020B0502040204020203" pitchFamily="34" charset="0"/>
            </a:endParaRPr>
          </a:p>
        </p:txBody>
      </p:sp>
      <p:sp>
        <p:nvSpPr>
          <p:cNvPr id="7" name="Text 3"/>
          <p:cNvSpPr/>
          <p:nvPr/>
        </p:nvSpPr>
        <p:spPr>
          <a:xfrm>
            <a:off x="1436727" y="2786777"/>
            <a:ext cx="7000280" cy="611029"/>
          </a:xfrm>
          <a:prstGeom prst="rect">
            <a:avLst/>
          </a:prstGeom>
          <a:noFill/>
          <a:ln/>
        </p:spPr>
        <p:txBody>
          <a:bodyPr wrap="square" lIns="0" tIns="0" rIns="0" bIns="0" rtlCol="0" anchor="t"/>
          <a:lstStyle/>
          <a:p>
            <a:pPr marL="0" indent="0" algn="l">
              <a:lnSpc>
                <a:spcPts val="2400"/>
              </a:lnSpc>
              <a:buNone/>
            </a:pPr>
            <a:r>
              <a:rPr lang="en-US" sz="1600" dirty="0">
                <a:solidFill>
                  <a:srgbClr val="4A4A45"/>
                </a:solidFill>
                <a:latin typeface="Calibri" panose="020F0502020204030204" pitchFamily="34" charset="0"/>
                <a:ea typeface="Calibri" panose="020F0502020204030204" pitchFamily="34" charset="0"/>
                <a:cs typeface="Calibri" panose="020F0502020204030204" pitchFamily="34" charset="0"/>
              </a:rPr>
              <a:t>Observe precise line-following across varied garden terrains and predefined checkpoints.</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6993" y="3757613"/>
            <a:ext cx="504944" cy="504944"/>
          </a:xfrm>
          <a:prstGeom prst="rect">
            <a:avLst/>
          </a:prstGeom>
        </p:spPr>
      </p:pic>
      <p:sp>
        <p:nvSpPr>
          <p:cNvPr id="9" name="Text 4"/>
          <p:cNvSpPr/>
          <p:nvPr/>
        </p:nvSpPr>
        <p:spPr>
          <a:xfrm>
            <a:off x="1436727" y="3757613"/>
            <a:ext cx="3372922" cy="315635"/>
          </a:xfrm>
          <a:prstGeom prst="rect">
            <a:avLst/>
          </a:prstGeom>
          <a:noFill/>
          <a:ln/>
        </p:spPr>
        <p:txBody>
          <a:bodyPr wrap="none" lIns="0" tIns="0" rIns="0" bIns="0" rtlCol="0" anchor="t"/>
          <a:lstStyle/>
          <a:p>
            <a:pPr marL="0" indent="0" algn="l">
              <a:lnSpc>
                <a:spcPts val="2450"/>
              </a:lnSpc>
              <a:buNone/>
            </a:pPr>
            <a:r>
              <a:rPr lang="en-US" sz="2000" b="1" dirty="0">
                <a:solidFill>
                  <a:srgbClr val="4A4A45"/>
                </a:solidFill>
                <a:latin typeface="Segoe UI" panose="020B0502040204020203" pitchFamily="34" charset="0"/>
                <a:ea typeface="Lato Bold" pitchFamily="34" charset="-122"/>
                <a:cs typeface="Segoe UI" panose="020B0502040204020203" pitchFamily="34" charset="0"/>
              </a:rPr>
              <a:t>Motion Detection &amp; Response</a:t>
            </a:r>
            <a:endParaRPr lang="en-US" sz="2000" dirty="0">
              <a:latin typeface="Segoe UI" panose="020B0502040204020203" pitchFamily="34" charset="0"/>
              <a:cs typeface="Segoe UI" panose="020B0502040204020203" pitchFamily="34" charset="0"/>
            </a:endParaRPr>
          </a:p>
        </p:txBody>
      </p:sp>
      <p:sp>
        <p:nvSpPr>
          <p:cNvPr id="10" name="Text 5"/>
          <p:cNvSpPr/>
          <p:nvPr/>
        </p:nvSpPr>
        <p:spPr>
          <a:xfrm>
            <a:off x="1436727" y="4181118"/>
            <a:ext cx="7000280" cy="611029"/>
          </a:xfrm>
          <a:prstGeom prst="rect">
            <a:avLst/>
          </a:prstGeom>
          <a:noFill/>
          <a:ln/>
        </p:spPr>
        <p:txBody>
          <a:bodyPr wrap="square" lIns="0" tIns="0" rIns="0" bIns="0" rtlCol="0" anchor="t"/>
          <a:lstStyle/>
          <a:p>
            <a:pPr marL="0" indent="0" algn="l">
              <a:lnSpc>
                <a:spcPts val="2400"/>
              </a:lnSpc>
              <a:buNone/>
            </a:pPr>
            <a:r>
              <a:rPr lang="en-US" sz="1600" dirty="0">
                <a:solidFill>
                  <a:srgbClr val="4A4A45"/>
                </a:solidFill>
                <a:latin typeface="Calibri" panose="020F0502020204030204" pitchFamily="34" charset="0"/>
                <a:ea typeface="Calibri" panose="020F0502020204030204" pitchFamily="34" charset="0"/>
                <a:cs typeface="Calibri" panose="020F0502020204030204" pitchFamily="34" charset="0"/>
              </a:rPr>
              <a:t>See how quickly the robot identifies potential intruders and activates deterrents.</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6993" y="5151953"/>
            <a:ext cx="504944" cy="504944"/>
          </a:xfrm>
          <a:prstGeom prst="rect">
            <a:avLst/>
          </a:prstGeom>
        </p:spPr>
      </p:pic>
      <p:sp>
        <p:nvSpPr>
          <p:cNvPr id="12" name="Text 6"/>
          <p:cNvSpPr/>
          <p:nvPr/>
        </p:nvSpPr>
        <p:spPr>
          <a:xfrm>
            <a:off x="1436727" y="5151953"/>
            <a:ext cx="2525197" cy="315635"/>
          </a:xfrm>
          <a:prstGeom prst="rect">
            <a:avLst/>
          </a:prstGeom>
          <a:noFill/>
          <a:ln/>
        </p:spPr>
        <p:txBody>
          <a:bodyPr wrap="none" lIns="0" tIns="0" rIns="0" bIns="0" rtlCol="0" anchor="t"/>
          <a:lstStyle/>
          <a:p>
            <a:pPr marL="0" indent="0" algn="l">
              <a:lnSpc>
                <a:spcPts val="2450"/>
              </a:lnSpc>
              <a:buNone/>
            </a:pPr>
            <a:r>
              <a:rPr lang="en-US" sz="2000" b="1" dirty="0">
                <a:solidFill>
                  <a:srgbClr val="4A4A45"/>
                </a:solidFill>
                <a:latin typeface="Segoe UI" panose="020B0502040204020203" pitchFamily="34" charset="0"/>
                <a:ea typeface="Lato Bold" pitchFamily="34" charset="-122"/>
                <a:cs typeface="Segoe UI" panose="020B0502040204020203" pitchFamily="34" charset="0"/>
              </a:rPr>
              <a:t>Sensor Accuracy</a:t>
            </a:r>
            <a:endParaRPr lang="en-US" sz="2000" dirty="0">
              <a:latin typeface="Segoe UI" panose="020B0502040204020203" pitchFamily="34" charset="0"/>
              <a:cs typeface="Segoe UI" panose="020B0502040204020203" pitchFamily="34" charset="0"/>
            </a:endParaRPr>
          </a:p>
        </p:txBody>
      </p:sp>
      <p:sp>
        <p:nvSpPr>
          <p:cNvPr id="13" name="Text 7"/>
          <p:cNvSpPr/>
          <p:nvPr/>
        </p:nvSpPr>
        <p:spPr>
          <a:xfrm>
            <a:off x="1436727" y="5575459"/>
            <a:ext cx="7000280" cy="611029"/>
          </a:xfrm>
          <a:prstGeom prst="rect">
            <a:avLst/>
          </a:prstGeom>
          <a:noFill/>
          <a:ln/>
        </p:spPr>
        <p:txBody>
          <a:bodyPr wrap="square" lIns="0" tIns="0" rIns="0" bIns="0" rtlCol="0" anchor="t"/>
          <a:lstStyle/>
          <a:p>
            <a:pPr marL="0" indent="0" algn="l">
              <a:lnSpc>
                <a:spcPts val="2400"/>
              </a:lnSpc>
              <a:buNone/>
            </a:pPr>
            <a:r>
              <a:rPr lang="en-US" sz="1600" dirty="0">
                <a:solidFill>
                  <a:srgbClr val="4A4A45"/>
                </a:solidFill>
                <a:ea typeface="Lato" pitchFamily="34" charset="-122"/>
                <a:cs typeface="Lato" pitchFamily="34" charset="-120"/>
              </a:rPr>
              <a:t>Evaluate the reliability of PIR and ultrasonic sensors in real-time environmental scanning.</a:t>
            </a:r>
            <a:endParaRPr lang="en-US" sz="160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6993" y="6546294"/>
            <a:ext cx="504944" cy="504944"/>
          </a:xfrm>
          <a:prstGeom prst="rect">
            <a:avLst/>
          </a:prstGeom>
        </p:spPr>
      </p:pic>
      <p:sp>
        <p:nvSpPr>
          <p:cNvPr id="15" name="Text 8"/>
          <p:cNvSpPr/>
          <p:nvPr/>
        </p:nvSpPr>
        <p:spPr>
          <a:xfrm>
            <a:off x="1436727" y="6546294"/>
            <a:ext cx="2525197" cy="315635"/>
          </a:xfrm>
          <a:prstGeom prst="rect">
            <a:avLst/>
          </a:prstGeom>
          <a:noFill/>
          <a:ln/>
        </p:spPr>
        <p:txBody>
          <a:bodyPr wrap="none" lIns="0" tIns="0" rIns="0" bIns="0" rtlCol="0" anchor="t"/>
          <a:lstStyle/>
          <a:p>
            <a:pPr>
              <a:lnSpc>
                <a:spcPts val="2450"/>
              </a:lnSpc>
            </a:pPr>
            <a:r>
              <a:rPr lang="en-US" sz="2000" b="1" dirty="0">
                <a:solidFill>
                  <a:srgbClr val="4A4A45"/>
                </a:solidFill>
                <a:latin typeface="Segoe UI" panose="020B0502040204020203" pitchFamily="34" charset="0"/>
                <a:ea typeface="Lato Bold" pitchFamily="34" charset="-122"/>
                <a:cs typeface="Segoe UI" panose="020B0502040204020203" pitchFamily="34" charset="0"/>
              </a:rPr>
              <a:t>Live </a:t>
            </a:r>
            <a:r>
              <a:rPr lang="en-US" sz="2000" b="1" dirty="0">
                <a:solidFill>
                  <a:schemeClr val="accent3">
                    <a:lumMod val="50000"/>
                  </a:schemeClr>
                </a:solidFill>
                <a:latin typeface="Segoe UI" panose="020B0502040204020203" pitchFamily="34" charset="0"/>
                <a:cs typeface="Segoe UI" panose="020B0502040204020203" pitchFamily="34" charset="0"/>
              </a:rPr>
              <a:t>Monitoring</a:t>
            </a:r>
          </a:p>
        </p:txBody>
      </p:sp>
      <p:sp>
        <p:nvSpPr>
          <p:cNvPr id="16" name="Text 9"/>
          <p:cNvSpPr/>
          <p:nvPr/>
        </p:nvSpPr>
        <p:spPr>
          <a:xfrm>
            <a:off x="1436727" y="6969800"/>
            <a:ext cx="7000280" cy="611029"/>
          </a:xfrm>
          <a:prstGeom prst="rect">
            <a:avLst/>
          </a:prstGeom>
          <a:noFill/>
          <a:ln/>
        </p:spPr>
        <p:txBody>
          <a:bodyPr wrap="square" lIns="0" tIns="0" rIns="0" bIns="0" rtlCol="0" anchor="t"/>
          <a:lstStyle/>
          <a:p>
            <a:pPr>
              <a:lnSpc>
                <a:spcPts val="2400"/>
              </a:lnSpc>
            </a:pPr>
            <a:r>
              <a:rPr lang="en-US" sz="1600" dirty="0">
                <a:solidFill>
                  <a:schemeClr val="accent3">
                    <a:lumMod val="50000"/>
                  </a:schemeClr>
                </a:solidFill>
              </a:rPr>
              <a:t>View real-time system status and updates through a web interface powered by the ESP32 Dev Board.</a:t>
            </a:r>
            <a:endParaRPr lang="en-US" sz="1600" dirty="0">
              <a:solidFill>
                <a:schemeClr val="accent3">
                  <a:lumMod val="50000"/>
                </a:schemeClr>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53045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377</TotalTime>
  <Words>1988</Words>
  <Application>Microsoft Office PowerPoint</Application>
  <PresentationFormat>Custom</PresentationFormat>
  <Paragraphs>159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Lato</vt:lpstr>
      <vt:lpstr>Segoe UI</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LANSAKARA L M W K</cp:lastModifiedBy>
  <cp:revision>7</cp:revision>
  <dcterms:created xsi:type="dcterms:W3CDTF">2026-04-19T09:23:20Z</dcterms:created>
  <dcterms:modified xsi:type="dcterms:W3CDTF">2026-04-19T15:46:18Z</dcterms:modified>
</cp:coreProperties>
</file>